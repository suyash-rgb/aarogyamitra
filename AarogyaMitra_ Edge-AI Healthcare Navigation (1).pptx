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org&amp;utm_campaign=index&amp;utm_content=thumbnail" ContentType="image/pn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3" r:id="rId10"/>
  </p:sldIdLst>
  <p:sldSz cx="12192000" cy="6858000"/>
  <p:notesSz cx="6858000" cy="9144000"/>
  <p:embeddedFontLst>
    <p:embeddedFont>
      <p:font typeface="Inter" panose="020B0604020202020204" charset="0"/>
      <p:regular r:id="rId12"/>
      <p:bold r:id="rId13"/>
      <p:italic r:id="rId14"/>
      <p:boldItalic r:id="rId15"/>
    </p:embeddedFont>
    <p:embeddedFont>
      <p:font typeface="JetBrains Mono" panose="020B0604020202020204" charset="0"/>
      <p:regular r:id="rId16"/>
      <p:bold r:id="rId17"/>
      <p:italic r:id="rId18"/>
      <p:boldItalic r:id="rId19"/>
    </p:embeddedFont>
    <p:embeddedFont>
      <p:font typeface="Plus Jakarta Sans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3C3D915-A5F6-4A37-A264-B08DF725F62C}">
  <a:tblStyle styleId="{03C3D915-A5F6-4A37-A264-B08DF725F62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h2681ba657ffb4b91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h2681ba657ffb4b91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h2681ba657ffb4b91_8_0)">
  <p:cSld name="Generated (h2681ba657ffb4b91_8_0)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1631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6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org&amp;utm_campaign=index&amp;utm_content=thumbnail"/><Relationship Id="rId13" Type="http://schemas.openxmlformats.org/officeDocument/2006/relationships/image" Target="../media/image27.png"/><Relationship Id="rId18" Type="http://schemas.openxmlformats.org/officeDocument/2006/relationships/image" Target="../media/image32.jpg"/><Relationship Id="rId3" Type="http://schemas.openxmlformats.org/officeDocument/2006/relationships/image" Target="../media/image18.png"/><Relationship Id="rId21" Type="http://schemas.openxmlformats.org/officeDocument/2006/relationships/image" Target="../media/image35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0.jpe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11" Type="http://schemas.openxmlformats.org/officeDocument/2006/relationships/image" Target="../media/image25.org&amp;utm_campaign=index&amp;utm_content=thumbnail"/><Relationship Id="rId5" Type="http://schemas.openxmlformats.org/officeDocument/2006/relationships/image" Target="../media/image20.png"/><Relationship Id="rId15" Type="http://schemas.openxmlformats.org/officeDocument/2006/relationships/image" Target="../media/image29.jpg"/><Relationship Id="rId23" Type="http://schemas.openxmlformats.org/officeDocument/2006/relationships/image" Target="../media/image37.png"/><Relationship Id="rId10" Type="http://schemas.openxmlformats.org/officeDocument/2006/relationships/image" Target="../media/image24.png"/><Relationship Id="rId19" Type="http://schemas.openxmlformats.org/officeDocument/2006/relationships/image" Target="../media/image33.png"/><Relationship Id="rId4" Type="http://schemas.openxmlformats.org/officeDocument/2006/relationships/image" Target="../media/image19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Relationship Id="rId22" Type="http://schemas.openxmlformats.org/officeDocument/2006/relationships/image" Target="../media/image3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31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00584" y="266700"/>
            <a:ext cx="4306824" cy="476400"/>
          </a:xfrm>
          <a:prstGeom prst="roundRect">
            <a:avLst>
              <a:gd name="adj" fmla="val 12000"/>
            </a:avLst>
          </a:prstGeom>
          <a:solidFill>
            <a:srgbClr val="0A2537"/>
          </a:solidFill>
          <a:ln w="9525" cap="flat" cmpd="sng">
            <a:solidFill>
              <a:srgbClr val="0B4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381000" y="895350"/>
            <a:ext cx="3905250" cy="5695950"/>
          </a:xfrm>
          <a:prstGeom prst="roundRect">
            <a:avLst>
              <a:gd name="adj" fmla="val 3414"/>
            </a:avLst>
          </a:prstGeom>
          <a:solidFill>
            <a:srgbClr val="0C1726"/>
          </a:solidFill>
          <a:ln w="9525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 flipH="1">
            <a:off x="219456" y="438150"/>
            <a:ext cx="82296" cy="132545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4526280" y="266700"/>
            <a:ext cx="3318747" cy="476250"/>
          </a:xfrm>
          <a:prstGeom prst="roundRect">
            <a:avLst>
              <a:gd name="adj" fmla="val 12000"/>
            </a:avLst>
          </a:prstGeom>
          <a:solidFill>
            <a:srgbClr val="0F1F33"/>
          </a:solidFill>
          <a:ln w="9525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7959328" y="266700"/>
            <a:ext cx="4132088" cy="476250"/>
          </a:xfrm>
          <a:prstGeom prst="roundRect">
            <a:avLst>
              <a:gd name="adj" fmla="val 12000"/>
            </a:avLst>
          </a:prstGeom>
          <a:solidFill>
            <a:srgbClr val="0F1F33"/>
          </a:solidFill>
          <a:ln w="9525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600075" y="5905500"/>
            <a:ext cx="346710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600075" y="5905500"/>
            <a:ext cx="34671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4514850" y="2688336"/>
            <a:ext cx="2330499" cy="3902964"/>
          </a:xfrm>
          <a:prstGeom prst="roundRect">
            <a:avLst>
              <a:gd name="adj" fmla="val 5721"/>
            </a:avLst>
          </a:prstGeom>
          <a:solidFill>
            <a:srgbClr val="0C1726"/>
          </a:solidFill>
          <a:ln w="9525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7016725" y="2688336"/>
            <a:ext cx="2330499" cy="3902964"/>
          </a:xfrm>
          <a:prstGeom prst="roundRect">
            <a:avLst>
              <a:gd name="adj" fmla="val 5721"/>
            </a:avLst>
          </a:prstGeom>
          <a:solidFill>
            <a:srgbClr val="0C1726"/>
          </a:solidFill>
          <a:ln w="9525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9480649" y="2688336"/>
            <a:ext cx="2330499" cy="3902964"/>
          </a:xfrm>
          <a:prstGeom prst="roundRect">
            <a:avLst>
              <a:gd name="adj" fmla="val 5721"/>
            </a:avLst>
          </a:prstGeom>
          <a:solidFill>
            <a:srgbClr val="0C1726"/>
          </a:solidFill>
          <a:ln w="9525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4657649" y="3031096"/>
            <a:ext cx="2044749" cy="2000250"/>
          </a:xfrm>
          <a:prstGeom prst="roundRect">
            <a:avLst>
              <a:gd name="adj" fmla="val 5714"/>
            </a:avLst>
          </a:prstGeom>
          <a:solidFill>
            <a:srgbClr val="0B2033"/>
          </a:solidFill>
          <a:ln w="19050" cap="flat" cmpd="sng">
            <a:solidFill>
              <a:srgbClr val="0284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7199089" y="3074336"/>
            <a:ext cx="2044749" cy="2000250"/>
          </a:xfrm>
          <a:prstGeom prst="roundRect">
            <a:avLst>
              <a:gd name="adj" fmla="val 5714"/>
            </a:avLst>
          </a:prstGeom>
          <a:solidFill>
            <a:srgbClr val="0C212E"/>
          </a:solidFill>
          <a:ln w="1905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/>
          <p:nvPr/>
        </p:nvSpPr>
        <p:spPr>
          <a:xfrm>
            <a:off x="9623393" y="3062287"/>
            <a:ext cx="2044749" cy="2000250"/>
          </a:xfrm>
          <a:prstGeom prst="roundRect">
            <a:avLst>
              <a:gd name="adj" fmla="val 5714"/>
            </a:avLst>
          </a:prstGeom>
          <a:solidFill>
            <a:srgbClr val="152037"/>
          </a:solidFill>
          <a:ln w="19050" cap="flat" cmpd="sng">
            <a:solidFill>
              <a:srgbClr val="818C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4638675" y="5306795"/>
            <a:ext cx="2045017" cy="417730"/>
          </a:xfrm>
          <a:prstGeom prst="roundRect">
            <a:avLst>
              <a:gd name="adj" fmla="val 17857"/>
            </a:avLst>
          </a:prstGeom>
          <a:solidFill>
            <a:srgbClr val="0A2D46"/>
          </a:solidFill>
          <a:ln w="9525" cap="flat" cmpd="sng">
            <a:solidFill>
              <a:srgbClr val="0848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7173371" y="5304330"/>
            <a:ext cx="2044749" cy="420195"/>
          </a:xfrm>
          <a:prstGeom prst="roundRect">
            <a:avLst>
              <a:gd name="adj" fmla="val 17857"/>
            </a:avLst>
          </a:prstGeom>
          <a:solidFill>
            <a:srgbClr val="0C303A"/>
          </a:solidFill>
          <a:ln w="9525" cap="flat" cmpd="sng">
            <a:solidFill>
              <a:srgbClr val="0C4F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/>
          <p:nvPr/>
        </p:nvSpPr>
        <p:spPr>
          <a:xfrm>
            <a:off x="9586168" y="5271641"/>
            <a:ext cx="2013662" cy="414784"/>
          </a:xfrm>
          <a:prstGeom prst="roundRect">
            <a:avLst>
              <a:gd name="adj" fmla="val 17857"/>
            </a:avLst>
          </a:prstGeom>
          <a:solidFill>
            <a:srgbClr val="232E50"/>
          </a:solidFill>
          <a:ln w="9525" cap="flat" cmpd="sng">
            <a:solidFill>
              <a:srgbClr val="414C8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93158" y="411415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48625" y="459600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5735" y="1066727"/>
            <a:ext cx="2606690" cy="104306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3"/>
          <p:cNvSpPr txBox="1"/>
          <p:nvPr/>
        </p:nvSpPr>
        <p:spPr>
          <a:xfrm>
            <a:off x="385796" y="423572"/>
            <a:ext cx="41310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PS 01 • MAKING HEALTHCARE ACCESSIBLE &amp; INTELLIGENT</a:t>
            </a:r>
            <a:endParaRPr dirty="0"/>
          </a:p>
        </p:txBody>
      </p:sp>
      <p:sp>
        <p:nvSpPr>
          <p:cNvPr id="117" name="Google Shape;117;p13"/>
          <p:cNvSpPr txBox="1"/>
          <p:nvPr/>
        </p:nvSpPr>
        <p:spPr>
          <a:xfrm>
            <a:off x="4894212" y="388467"/>
            <a:ext cx="290319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github.com/</a:t>
            </a:r>
            <a:r>
              <a:rPr lang="en-US" sz="1050" b="0" i="0" u="none" strike="noStrike" cap="none" dirty="0" err="1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suyash-rgb</a:t>
            </a:r>
            <a:r>
              <a:rPr lang="en-US" sz="1050" b="0" i="0" u="none" strike="noStrike" cap="none" dirty="0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</a:t>
            </a:r>
            <a:r>
              <a:rPr lang="en-US" sz="1050" b="0" i="0" u="none" strike="noStrike" cap="none" dirty="0" err="1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AarogyaMitra</a:t>
            </a:r>
            <a:endParaRPr dirty="0"/>
          </a:p>
        </p:txBody>
      </p:sp>
      <p:sp>
        <p:nvSpPr>
          <p:cNvPr id="118" name="Google Shape;118;p13"/>
          <p:cNvSpPr txBox="1"/>
          <p:nvPr/>
        </p:nvSpPr>
        <p:spPr>
          <a:xfrm>
            <a:off x="8242156" y="445483"/>
            <a:ext cx="375958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hf.co/TheUsurper09/aarogyamitra-qwen35-2b-gguf</a:t>
            </a:r>
            <a:endParaRPr dirty="0"/>
          </a:p>
        </p:txBody>
      </p:sp>
      <p:sp>
        <p:nvSpPr>
          <p:cNvPr id="119" name="Google Shape;119;p13"/>
          <p:cNvSpPr txBox="1"/>
          <p:nvPr/>
        </p:nvSpPr>
        <p:spPr>
          <a:xfrm>
            <a:off x="620430" y="3155603"/>
            <a:ext cx="356235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Intelligent Multilingual Edge-AI for Rural &amp; Tier-2/3 Clinical Triage Navigation</a:t>
            </a:r>
            <a:endParaRPr dirty="0"/>
          </a:p>
        </p:txBody>
      </p:sp>
      <p:sp>
        <p:nvSpPr>
          <p:cNvPr id="120" name="Google Shape;120;p13"/>
          <p:cNvSpPr txBox="1"/>
          <p:nvPr/>
        </p:nvSpPr>
        <p:spPr>
          <a:xfrm>
            <a:off x="600075" y="6029325"/>
            <a:ext cx="3562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100% Offline Edge Deployable • Zero Cloud GPU Required</a:t>
            </a:r>
            <a:endParaRPr/>
          </a:p>
        </p:txBody>
      </p:sp>
      <p:sp>
        <p:nvSpPr>
          <p:cNvPr id="121" name="Google Shape;121;p13"/>
          <p:cNvSpPr txBox="1"/>
          <p:nvPr/>
        </p:nvSpPr>
        <p:spPr>
          <a:xfrm>
            <a:off x="4494465" y="2397576"/>
            <a:ext cx="36671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PROJECT LEADERSHIP • 3-MEMBER SQUAD</a:t>
            </a:r>
            <a:endParaRPr dirty="0"/>
          </a:p>
        </p:txBody>
      </p:sp>
      <p:sp>
        <p:nvSpPr>
          <p:cNvPr id="124" name="Google Shape;124;p13"/>
          <p:cNvSpPr txBox="1"/>
          <p:nvPr/>
        </p:nvSpPr>
        <p:spPr>
          <a:xfrm>
            <a:off x="1090755" y="2466037"/>
            <a:ext cx="28503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 err="1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AarogyaMitra</a:t>
            </a:r>
            <a:endParaRPr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6B17834-BB95-AC64-EF8A-2D92421548CC}"/>
              </a:ext>
            </a:extLst>
          </p:cNvPr>
          <p:cNvGrpSpPr/>
          <p:nvPr/>
        </p:nvGrpSpPr>
        <p:grpSpPr>
          <a:xfrm>
            <a:off x="620430" y="3936538"/>
            <a:ext cx="3467100" cy="514350"/>
            <a:chOff x="600075" y="2680096"/>
            <a:chExt cx="3467100" cy="514350"/>
          </a:xfrm>
        </p:grpSpPr>
        <p:sp>
          <p:nvSpPr>
            <p:cNvPr id="94" name="Google Shape;94;p13"/>
            <p:cNvSpPr/>
            <p:nvPr/>
          </p:nvSpPr>
          <p:spPr>
            <a:xfrm>
              <a:off x="600075" y="2680096"/>
              <a:ext cx="3467100" cy="514350"/>
            </a:xfrm>
            <a:prstGeom prst="roundRect">
              <a:avLst>
                <a:gd name="adj" fmla="val 14814"/>
              </a:avLst>
            </a:prstGeom>
            <a:solidFill>
              <a:srgbClr val="0B2439"/>
            </a:solidFill>
            <a:ln w="9525" cap="flat" cmpd="sng">
              <a:solidFill>
                <a:srgbClr val="0938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7" name="Google Shape;107;p13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23900" y="2870596"/>
              <a:ext cx="133350" cy="133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" name="Google Shape;125;p13"/>
            <p:cNvSpPr txBox="1"/>
            <p:nvPr/>
          </p:nvSpPr>
          <p:spPr>
            <a:xfrm>
              <a:off x="952500" y="2765821"/>
              <a:ext cx="30861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 i="0" u="none" strike="noStrike" cap="none" dirty="0">
                  <a:solidFill>
                    <a:srgbClr val="BAE6FD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Qwen 3.5 2B SFT GGUF • 2.8 GB RAM Budget</a:t>
              </a:r>
              <a:endParaRPr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7E40F21-1CA6-0C52-BBFB-0EF51993BCD8}"/>
              </a:ext>
            </a:extLst>
          </p:cNvPr>
          <p:cNvGrpSpPr/>
          <p:nvPr/>
        </p:nvGrpSpPr>
        <p:grpSpPr>
          <a:xfrm>
            <a:off x="620430" y="4580429"/>
            <a:ext cx="3467100" cy="514350"/>
            <a:chOff x="600075" y="3270646"/>
            <a:chExt cx="3467100" cy="514350"/>
          </a:xfrm>
        </p:grpSpPr>
        <p:sp>
          <p:nvSpPr>
            <p:cNvPr id="95" name="Google Shape;95;p13"/>
            <p:cNvSpPr/>
            <p:nvPr/>
          </p:nvSpPr>
          <p:spPr>
            <a:xfrm>
              <a:off x="600075" y="3270646"/>
              <a:ext cx="3467100" cy="514350"/>
            </a:xfrm>
            <a:prstGeom prst="roundRect">
              <a:avLst>
                <a:gd name="adj" fmla="val 14814"/>
              </a:avLst>
            </a:prstGeom>
            <a:solidFill>
              <a:srgbClr val="0C2632"/>
            </a:solidFill>
            <a:ln w="9525" cap="flat" cmpd="sng">
              <a:solidFill>
                <a:srgbClr val="0C3D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8" name="Google Shape;108;p13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723900" y="3461146"/>
              <a:ext cx="171450" cy="133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" name="Google Shape;126;p13"/>
            <p:cNvSpPr txBox="1"/>
            <p:nvPr/>
          </p:nvSpPr>
          <p:spPr>
            <a:xfrm>
              <a:off x="990600" y="3356371"/>
              <a:ext cx="3048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 i="0" u="none" strike="noStrike" cap="none" dirty="0">
                  <a:solidFill>
                    <a:srgbClr val="99F6E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22 Indic Languages + Code-Mixed Hinglish</a:t>
              </a:r>
              <a:endParaRPr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B00DCE7-3793-F033-392F-B50695D30015}"/>
              </a:ext>
            </a:extLst>
          </p:cNvPr>
          <p:cNvGrpSpPr/>
          <p:nvPr/>
        </p:nvGrpSpPr>
        <p:grpSpPr>
          <a:xfrm>
            <a:off x="620430" y="5218604"/>
            <a:ext cx="3467100" cy="514350"/>
            <a:chOff x="600075" y="3861196"/>
            <a:chExt cx="3467100" cy="514350"/>
          </a:xfrm>
        </p:grpSpPr>
        <p:sp>
          <p:nvSpPr>
            <p:cNvPr id="96" name="Google Shape;96;p13"/>
            <p:cNvSpPr/>
            <p:nvPr/>
          </p:nvSpPr>
          <p:spPr>
            <a:xfrm>
              <a:off x="600075" y="3861196"/>
              <a:ext cx="3467100" cy="514350"/>
            </a:xfrm>
            <a:prstGeom prst="roundRect">
              <a:avLst>
                <a:gd name="adj" fmla="val 14814"/>
              </a:avLst>
            </a:prstGeom>
            <a:solidFill>
              <a:srgbClr val="26182A"/>
            </a:solidFill>
            <a:ln w="9525" cap="flat" cmpd="sng">
              <a:solidFill>
                <a:srgbClr val="4C19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9" name="Google Shape;109;p13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23900" y="4051696"/>
              <a:ext cx="133350" cy="133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" name="Google Shape;127;p13"/>
            <p:cNvSpPr txBox="1"/>
            <p:nvPr/>
          </p:nvSpPr>
          <p:spPr>
            <a:xfrm>
              <a:off x="952500" y="3946921"/>
              <a:ext cx="30861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 i="0" u="none" strike="noStrike" cap="none" dirty="0">
                  <a:solidFill>
                    <a:srgbClr val="FECDD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Deterministic Emergency 108 Red-Flag Bypass</a:t>
              </a:r>
              <a:endParaRPr dirty="0"/>
            </a:p>
          </p:txBody>
        </p:sp>
      </p:grpSp>
      <p:sp>
        <p:nvSpPr>
          <p:cNvPr id="131" name="Google Shape;131;p13"/>
          <p:cNvSpPr txBox="1"/>
          <p:nvPr/>
        </p:nvSpPr>
        <p:spPr>
          <a:xfrm>
            <a:off x="4651400" y="5363260"/>
            <a:ext cx="2032292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TEAM LEAD • </a:t>
            </a:r>
            <a:r>
              <a:rPr lang="en-US" sz="1050" b="1" dirty="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 ARCHITECT</a:t>
            </a:r>
            <a:r>
              <a:rPr lang="en-US" sz="1050" b="1" i="0" u="none" strike="noStrike" cap="none" dirty="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&amp; </a:t>
            </a:r>
            <a:r>
              <a:rPr lang="en-US" sz="1050" b="1" dirty="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AI ENGINEER</a:t>
            </a:r>
            <a:endParaRPr dirty="0"/>
          </a:p>
        </p:txBody>
      </p:sp>
      <p:sp>
        <p:nvSpPr>
          <p:cNvPr id="132" name="Google Shape;132;p13"/>
          <p:cNvSpPr txBox="1"/>
          <p:nvPr/>
        </p:nvSpPr>
        <p:spPr>
          <a:xfrm>
            <a:off x="4787056" y="5743575"/>
            <a:ext cx="178593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Suyash Baoney</a:t>
            </a:r>
            <a:endParaRPr/>
          </a:p>
        </p:txBody>
      </p:sp>
      <p:sp>
        <p:nvSpPr>
          <p:cNvPr id="133" name="Google Shape;133;p13"/>
          <p:cNvSpPr txBox="1"/>
          <p:nvPr/>
        </p:nvSpPr>
        <p:spPr>
          <a:xfrm>
            <a:off x="4894212" y="6019800"/>
            <a:ext cx="15716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MCA-3</a:t>
            </a:r>
            <a:r>
              <a:rPr lang="en-US" sz="1050" baseline="3000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rd</a:t>
            </a:r>
            <a:r>
              <a:rPr lang="en-US" sz="10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Sem</a:t>
            </a:r>
            <a:endParaRPr dirty="0"/>
          </a:p>
        </p:txBody>
      </p:sp>
      <p:sp>
        <p:nvSpPr>
          <p:cNvPr id="134" name="Google Shape;134;p13"/>
          <p:cNvSpPr txBox="1"/>
          <p:nvPr/>
        </p:nvSpPr>
        <p:spPr>
          <a:xfrm>
            <a:off x="4651400" y="6238875"/>
            <a:ext cx="1966838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suyashbaoney58@gmail.com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endParaRPr dirty="0"/>
          </a:p>
        </p:txBody>
      </p:sp>
      <p:sp>
        <p:nvSpPr>
          <p:cNvPr id="138" name="Google Shape;138;p13"/>
          <p:cNvSpPr txBox="1"/>
          <p:nvPr/>
        </p:nvSpPr>
        <p:spPr>
          <a:xfrm>
            <a:off x="7173371" y="5375185"/>
            <a:ext cx="197643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2DD4B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AI SAFETY &amp; GUARDRAILS ENGINEER</a:t>
            </a:r>
            <a:endParaRPr dirty="0"/>
          </a:p>
        </p:txBody>
      </p:sp>
      <p:sp>
        <p:nvSpPr>
          <p:cNvPr id="139" name="Google Shape;139;p13"/>
          <p:cNvSpPr txBox="1"/>
          <p:nvPr/>
        </p:nvSpPr>
        <p:spPr>
          <a:xfrm>
            <a:off x="7103268" y="5743575"/>
            <a:ext cx="2119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Poonam Patidar</a:t>
            </a:r>
            <a:endParaRPr dirty="0"/>
          </a:p>
        </p:txBody>
      </p:sp>
      <p:sp>
        <p:nvSpPr>
          <p:cNvPr id="140" name="Google Shape;140;p13"/>
          <p:cNvSpPr txBox="1"/>
          <p:nvPr/>
        </p:nvSpPr>
        <p:spPr>
          <a:xfrm>
            <a:off x="7377112" y="6019800"/>
            <a:ext cx="1571625" cy="3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10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[</a:t>
            </a: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MCA-3</a:t>
            </a:r>
            <a:r>
              <a:rPr kumimoji="0" lang="en-US" sz="1050" b="0" i="0" u="none" strike="noStrike" kern="0" cap="none" spc="0" normalizeH="0" baseline="3000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rd</a:t>
            </a: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 Sem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1" name="Google Shape;141;p13"/>
          <p:cNvSpPr txBox="1"/>
          <p:nvPr/>
        </p:nvSpPr>
        <p:spPr>
          <a:xfrm>
            <a:off x="7103268" y="6238875"/>
            <a:ext cx="224395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poonampatidar0755@gmail.com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endParaRPr dirty="0"/>
          </a:p>
        </p:txBody>
      </p:sp>
      <p:sp>
        <p:nvSpPr>
          <p:cNvPr id="145" name="Google Shape;145;p13"/>
          <p:cNvSpPr txBox="1"/>
          <p:nvPr/>
        </p:nvSpPr>
        <p:spPr>
          <a:xfrm>
            <a:off x="9623393" y="5350019"/>
            <a:ext cx="197643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A5B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FRONT-END &amp; PWA SIMULATION ENGINEER</a:t>
            </a:r>
            <a:endParaRPr dirty="0"/>
          </a:p>
        </p:txBody>
      </p:sp>
      <p:sp>
        <p:nvSpPr>
          <p:cNvPr id="146" name="Google Shape;146;p13"/>
          <p:cNvSpPr txBox="1"/>
          <p:nvPr/>
        </p:nvSpPr>
        <p:spPr>
          <a:xfrm>
            <a:off x="9586168" y="5743575"/>
            <a:ext cx="2119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Priyanshu Kumar</a:t>
            </a:r>
            <a:endParaRPr dirty="0"/>
          </a:p>
        </p:txBody>
      </p:sp>
      <p:sp>
        <p:nvSpPr>
          <p:cNvPr id="147" name="Google Shape;147;p13"/>
          <p:cNvSpPr txBox="1"/>
          <p:nvPr/>
        </p:nvSpPr>
        <p:spPr>
          <a:xfrm>
            <a:off x="9860012" y="6019800"/>
            <a:ext cx="15716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10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MCA-3</a:t>
            </a:r>
            <a:r>
              <a:rPr lang="en-US" sz="1050" baseline="3000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rd</a:t>
            </a:r>
            <a:r>
              <a:rPr lang="en-US" sz="10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Sem</a:t>
            </a:r>
            <a:endParaRPr lang="en-US" sz="1050" dirty="0"/>
          </a:p>
        </p:txBody>
      </p:sp>
      <p:sp>
        <p:nvSpPr>
          <p:cNvPr id="148" name="Google Shape;148;p13"/>
          <p:cNvSpPr txBox="1"/>
          <p:nvPr/>
        </p:nvSpPr>
        <p:spPr>
          <a:xfrm>
            <a:off x="9586168" y="6238875"/>
            <a:ext cx="2081974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priyanshu74164@gmail.com 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BF0868-754B-8A27-6F3F-35D2342C7DD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047" y="860171"/>
            <a:ext cx="2645248" cy="14417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76F133-00D1-2480-965A-11A935B8A7A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88238" y="3124009"/>
            <a:ext cx="1883332" cy="18833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0D40519-F07D-9E95-483B-6D1FD7B7612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09382" y="3116388"/>
            <a:ext cx="1841761" cy="191495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8755843-E7FD-6890-53AA-F322BA21241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73443" y="3089555"/>
            <a:ext cx="1813160" cy="18833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"/>
          <p:cNvSpPr/>
          <p:nvPr/>
        </p:nvSpPr>
        <p:spPr>
          <a:xfrm>
            <a:off x="571500" y="5676900"/>
            <a:ext cx="11049000" cy="76200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4"/>
          <p:cNvSpPr/>
          <p:nvPr/>
        </p:nvSpPr>
        <p:spPr>
          <a:xfrm>
            <a:off x="571500" y="2130921"/>
            <a:ext cx="3555950" cy="2472332"/>
          </a:xfrm>
          <a:prstGeom prst="roundRect">
            <a:avLst>
              <a:gd name="adj" fmla="val 4623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4"/>
          <p:cNvSpPr/>
          <p:nvPr/>
        </p:nvSpPr>
        <p:spPr>
          <a:xfrm>
            <a:off x="4317950" y="2130921"/>
            <a:ext cx="3555950" cy="2472332"/>
          </a:xfrm>
          <a:prstGeom prst="roundRect">
            <a:avLst>
              <a:gd name="adj" fmla="val 4623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4"/>
          <p:cNvSpPr/>
          <p:nvPr/>
        </p:nvSpPr>
        <p:spPr>
          <a:xfrm>
            <a:off x="8064400" y="2130921"/>
            <a:ext cx="3555950" cy="2472332"/>
          </a:xfrm>
          <a:prstGeom prst="roundRect">
            <a:avLst>
              <a:gd name="adj" fmla="val 4623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4"/>
          <p:cNvSpPr/>
          <p:nvPr/>
        </p:nvSpPr>
        <p:spPr>
          <a:xfrm>
            <a:off x="9734550" y="5905500"/>
            <a:ext cx="1657350" cy="30480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4"/>
          <p:cNvSpPr/>
          <p:nvPr/>
        </p:nvSpPr>
        <p:spPr>
          <a:xfrm>
            <a:off x="809625" y="4050803"/>
            <a:ext cx="30797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4"/>
          <p:cNvSpPr/>
          <p:nvPr/>
        </p:nvSpPr>
        <p:spPr>
          <a:xfrm>
            <a:off x="4556075" y="4050803"/>
            <a:ext cx="30797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4"/>
          <p:cNvSpPr/>
          <p:nvPr/>
        </p:nvSpPr>
        <p:spPr>
          <a:xfrm>
            <a:off x="8302525" y="4050803"/>
            <a:ext cx="30797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0100" y="5924550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236904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56075" y="236904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02525" y="236904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4875" y="2473821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37037" y="2473821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6350" y="2473821"/>
            <a:ext cx="1333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4"/>
          <p:cNvSpPr txBox="1"/>
          <p:nvPr/>
        </p:nvSpPr>
        <p:spPr>
          <a:xfrm>
            <a:off x="571500" y="419100"/>
            <a:ext cx="11620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CONTEXT &amp; SYSTEMIC CHALLENGES</a:t>
            </a:r>
            <a:endParaRPr/>
          </a:p>
        </p:txBody>
      </p:sp>
      <p:sp>
        <p:nvSpPr>
          <p:cNvPr id="169" name="Google Shape;169;p14"/>
          <p:cNvSpPr txBox="1"/>
          <p:nvPr/>
        </p:nvSpPr>
        <p:spPr>
          <a:xfrm>
            <a:off x="571500" y="628650"/>
            <a:ext cx="116205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Healthcare Access Crisis in Bharat</a:t>
            </a:r>
            <a:endParaRPr/>
          </a:p>
        </p:txBody>
      </p:sp>
      <p:sp>
        <p:nvSpPr>
          <p:cNvPr id="170" name="Google Shape;170;p14"/>
          <p:cNvSpPr txBox="1"/>
          <p:nvPr/>
        </p:nvSpPr>
        <p:spPr>
          <a:xfrm>
            <a:off x="809625" y="4165103"/>
            <a:ext cx="31749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80% CHC VACANCY</a:t>
            </a:r>
            <a:endParaRPr/>
          </a:p>
        </p:txBody>
      </p:sp>
      <p:sp>
        <p:nvSpPr>
          <p:cNvPr id="171" name="Google Shape;171;p14"/>
          <p:cNvSpPr txBox="1"/>
          <p:nvPr/>
        </p:nvSpPr>
        <p:spPr>
          <a:xfrm>
            <a:off x="4556075" y="4165103"/>
            <a:ext cx="31749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TOKEN FRAGMENTATION</a:t>
            </a:r>
            <a:endParaRPr/>
          </a:p>
        </p:txBody>
      </p:sp>
      <p:sp>
        <p:nvSpPr>
          <p:cNvPr id="172" name="Google Shape;172;p14"/>
          <p:cNvSpPr txBox="1"/>
          <p:nvPr/>
        </p:nvSpPr>
        <p:spPr>
          <a:xfrm>
            <a:off x="8302525" y="4165103"/>
            <a:ext cx="31749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NON-STANDARD FORMATS</a:t>
            </a:r>
            <a:endParaRPr/>
          </a:p>
        </p:txBody>
      </p:sp>
      <p:sp>
        <p:nvSpPr>
          <p:cNvPr id="173" name="Google Shape;173;p14"/>
          <p:cNvSpPr txBox="1"/>
          <p:nvPr/>
        </p:nvSpPr>
        <p:spPr>
          <a:xfrm>
            <a:off x="9877425" y="5972175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COMMODITY CPU ONLY</a:t>
            </a:r>
            <a:endParaRPr/>
          </a:p>
        </p:txBody>
      </p:sp>
      <p:sp>
        <p:nvSpPr>
          <p:cNvPr id="174" name="Google Shape;174;p14"/>
          <p:cNvSpPr txBox="1"/>
          <p:nvPr/>
        </p:nvSpPr>
        <p:spPr>
          <a:xfrm>
            <a:off x="809625" y="2883396"/>
            <a:ext cx="384962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Specialist Shortfall</a:t>
            </a:r>
            <a:endParaRPr/>
          </a:p>
        </p:txBody>
      </p:sp>
      <p:sp>
        <p:nvSpPr>
          <p:cNvPr id="175" name="Google Shape;175;p14"/>
          <p:cNvSpPr txBox="1"/>
          <p:nvPr/>
        </p:nvSpPr>
        <p:spPr>
          <a:xfrm>
            <a:off x="809625" y="3197721"/>
            <a:ext cx="3174950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80% specialist vacancy at CHCs forcing hours of rural travel for primary consultations.</a:t>
            </a:r>
            <a:endParaRPr/>
          </a:p>
        </p:txBody>
      </p:sp>
      <p:sp>
        <p:nvSpPr>
          <p:cNvPr id="176" name="Google Shape;176;p14"/>
          <p:cNvSpPr txBox="1"/>
          <p:nvPr/>
        </p:nvSpPr>
        <p:spPr>
          <a:xfrm>
            <a:off x="4556075" y="2883396"/>
            <a:ext cx="384962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Indic Language Barrier</a:t>
            </a:r>
            <a:endParaRPr/>
          </a:p>
        </p:txBody>
      </p:sp>
      <p:sp>
        <p:nvSpPr>
          <p:cNvPr id="177" name="Google Shape;177;p14"/>
          <p:cNvSpPr txBox="1"/>
          <p:nvPr/>
        </p:nvSpPr>
        <p:spPr>
          <a:xfrm>
            <a:off x="4556075" y="3197721"/>
            <a:ext cx="3174950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Cloud LLMs fail on Hinglish scripts and hallucinate clinical advice due to token splits.</a:t>
            </a:r>
            <a:endParaRPr dirty="0"/>
          </a:p>
        </p:txBody>
      </p:sp>
      <p:sp>
        <p:nvSpPr>
          <p:cNvPr id="178" name="Google Shape;178;p14"/>
          <p:cNvSpPr txBox="1"/>
          <p:nvPr/>
        </p:nvSpPr>
        <p:spPr>
          <a:xfrm>
            <a:off x="8302525" y="2883396"/>
            <a:ext cx="384962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Physical Document Lock</a:t>
            </a:r>
            <a:endParaRPr/>
          </a:p>
        </p:txBody>
      </p:sp>
      <p:sp>
        <p:nvSpPr>
          <p:cNvPr id="179" name="Google Shape;179;p14"/>
          <p:cNvSpPr txBox="1"/>
          <p:nvPr/>
        </p:nvSpPr>
        <p:spPr>
          <a:xfrm>
            <a:off x="8302525" y="3197721"/>
            <a:ext cx="3174950" cy="872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Diagnostics remain trapped in blurry mobile camera photos and  handwritten scripts from doctors.</a:t>
            </a:r>
            <a:endParaRPr dirty="0"/>
          </a:p>
        </p:txBody>
      </p:sp>
      <p:sp>
        <p:nvSpPr>
          <p:cNvPr id="180" name="Google Shape;180;p14"/>
          <p:cNvSpPr txBox="1"/>
          <p:nvPr/>
        </p:nvSpPr>
        <p:spPr>
          <a:xfrm>
            <a:off x="1190625" y="5848350"/>
            <a:ext cx="101441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Bharat Opportunity: 425M+ Rural WhatsApp Users</a:t>
            </a:r>
            <a:endParaRPr/>
          </a:p>
        </p:txBody>
      </p:sp>
      <p:sp>
        <p:nvSpPr>
          <p:cNvPr id="181" name="Google Shape;181;p14"/>
          <p:cNvSpPr txBox="1"/>
          <p:nvPr/>
        </p:nvSpPr>
        <p:spPr>
          <a:xfrm>
            <a:off x="1190625" y="6067425"/>
            <a:ext cx="101441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Patients demand zero-cost navigation on commodity edge hardware without high-end cloud GPUs.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"/>
          <p:cNvSpPr/>
          <p:nvPr/>
        </p:nvSpPr>
        <p:spPr>
          <a:xfrm>
            <a:off x="571500" y="5734050"/>
            <a:ext cx="11049000" cy="704850"/>
          </a:xfrm>
          <a:prstGeom prst="roundRect">
            <a:avLst>
              <a:gd name="adj" fmla="val 13513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5"/>
          <p:cNvSpPr/>
          <p:nvPr/>
        </p:nvSpPr>
        <p:spPr>
          <a:xfrm>
            <a:off x="571500" y="2560885"/>
            <a:ext cx="3555950" cy="1926728"/>
          </a:xfrm>
          <a:prstGeom prst="roundRect">
            <a:avLst>
              <a:gd name="adj" fmla="val 5932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5"/>
          <p:cNvSpPr/>
          <p:nvPr/>
        </p:nvSpPr>
        <p:spPr>
          <a:xfrm>
            <a:off x="4317950" y="2560885"/>
            <a:ext cx="3555950" cy="1926728"/>
          </a:xfrm>
          <a:prstGeom prst="roundRect">
            <a:avLst>
              <a:gd name="adj" fmla="val 5932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5"/>
          <p:cNvSpPr/>
          <p:nvPr/>
        </p:nvSpPr>
        <p:spPr>
          <a:xfrm>
            <a:off x="8064400" y="2560885"/>
            <a:ext cx="3555950" cy="1926728"/>
          </a:xfrm>
          <a:prstGeom prst="roundRect">
            <a:avLst>
              <a:gd name="adj" fmla="val 5932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5"/>
          <p:cNvSpPr/>
          <p:nvPr/>
        </p:nvSpPr>
        <p:spPr>
          <a:xfrm>
            <a:off x="2006798" y="5905500"/>
            <a:ext cx="973931" cy="361950"/>
          </a:xfrm>
          <a:prstGeom prst="roundRect">
            <a:avLst>
              <a:gd name="adj" fmla="val 10526"/>
            </a:avLst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5"/>
          <p:cNvSpPr/>
          <p:nvPr/>
        </p:nvSpPr>
        <p:spPr>
          <a:xfrm>
            <a:off x="6840735" y="5905500"/>
            <a:ext cx="1165770" cy="361950"/>
          </a:xfrm>
          <a:prstGeom prst="roundRect">
            <a:avLst>
              <a:gd name="adj" fmla="val 10526"/>
            </a:avLst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5"/>
          <p:cNvSpPr/>
          <p:nvPr/>
        </p:nvSpPr>
        <p:spPr>
          <a:xfrm>
            <a:off x="809625" y="2799010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5"/>
          <p:cNvSpPr/>
          <p:nvPr/>
        </p:nvSpPr>
        <p:spPr>
          <a:xfrm>
            <a:off x="4556075" y="2799010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5"/>
          <p:cNvSpPr/>
          <p:nvPr/>
        </p:nvSpPr>
        <p:spPr>
          <a:xfrm>
            <a:off x="8302525" y="2799010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5"/>
          <p:cNvSpPr txBox="1"/>
          <p:nvPr/>
        </p:nvSpPr>
        <p:spPr>
          <a:xfrm>
            <a:off x="571500" y="419100"/>
            <a:ext cx="11620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 ARCHITECTURE PILLARS</a:t>
            </a:r>
            <a:endParaRPr/>
          </a:p>
        </p:txBody>
      </p:sp>
      <p:sp>
        <p:nvSpPr>
          <p:cNvPr id="196" name="Google Shape;196;p15"/>
          <p:cNvSpPr txBox="1"/>
          <p:nvPr/>
        </p:nvSpPr>
        <p:spPr>
          <a:xfrm>
            <a:off x="571500" y="628650"/>
            <a:ext cx="116205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Proposed Solution: AarogyaMitra</a:t>
            </a:r>
            <a:endParaRPr/>
          </a:p>
        </p:txBody>
      </p:sp>
      <p:sp>
        <p:nvSpPr>
          <p:cNvPr id="197" name="Google Shape;197;p15"/>
          <p:cNvSpPr txBox="1"/>
          <p:nvPr/>
        </p:nvSpPr>
        <p:spPr>
          <a:xfrm>
            <a:off x="571500" y="1114425"/>
            <a:ext cx="11620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Lightweight, privacy-first clinical triage operating within a lean ~2.8 GB RAM footprint on commodity CPUs.</a:t>
            </a:r>
            <a:endParaRPr/>
          </a:p>
        </p:txBody>
      </p:sp>
      <p:sp>
        <p:nvSpPr>
          <p:cNvPr id="198" name="Google Shape;198;p15"/>
          <p:cNvSpPr txBox="1"/>
          <p:nvPr/>
        </p:nvSpPr>
        <p:spPr>
          <a:xfrm>
            <a:off x="762000" y="5915025"/>
            <a:ext cx="114954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EXECUTION PHASES:</a:t>
            </a:r>
            <a:endParaRPr/>
          </a:p>
        </p:txBody>
      </p:sp>
      <p:sp>
        <p:nvSpPr>
          <p:cNvPr id="199" name="Google Shape;199;p15"/>
          <p:cNvSpPr txBox="1"/>
          <p:nvPr/>
        </p:nvSpPr>
        <p:spPr>
          <a:xfrm>
            <a:off x="809625" y="3237160"/>
            <a:ext cx="3174950" cy="745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Fine-tuned Qwen 3.5 2B enforcing structured risk staging and red-flag escalation.</a:t>
            </a:r>
            <a:endParaRPr dirty="0"/>
          </a:p>
        </p:txBody>
      </p:sp>
      <p:sp>
        <p:nvSpPr>
          <p:cNvPr id="200" name="Google Shape;200;p15"/>
          <p:cNvSpPr txBox="1"/>
          <p:nvPr/>
        </p:nvSpPr>
        <p:spPr>
          <a:xfrm>
            <a:off x="809625" y="4147405"/>
            <a:ext cx="38496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Target: SFT Clinical Dialogues</a:t>
            </a:r>
            <a:endParaRPr dirty="0"/>
          </a:p>
        </p:txBody>
      </p:sp>
      <p:sp>
        <p:nvSpPr>
          <p:cNvPr id="201" name="Google Shape;201;p15"/>
          <p:cNvSpPr txBox="1"/>
          <p:nvPr/>
        </p:nvSpPr>
        <p:spPr>
          <a:xfrm>
            <a:off x="4556075" y="3237160"/>
            <a:ext cx="3174950" cy="745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Native support across 22 Eighth Schedule languages and Romanized Hinglish.</a:t>
            </a:r>
            <a:endParaRPr/>
          </a:p>
        </p:txBody>
      </p:sp>
      <p:sp>
        <p:nvSpPr>
          <p:cNvPr id="202" name="Google Shape;202;p15"/>
          <p:cNvSpPr txBox="1"/>
          <p:nvPr/>
        </p:nvSpPr>
        <p:spPr>
          <a:xfrm>
            <a:off x="4556075" y="4166455"/>
            <a:ext cx="38496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0D948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Stack: </a:t>
            </a:r>
            <a:r>
              <a:rPr lang="en-US" sz="1050" b="1" i="0" u="none" strike="noStrike" cap="none" dirty="0" err="1">
                <a:solidFill>
                  <a:srgbClr val="0D948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IndicLID</a:t>
            </a:r>
            <a:r>
              <a:rPr lang="en-US" sz="1050" b="1" i="0" u="none" strike="noStrike" cap="none" dirty="0">
                <a:solidFill>
                  <a:srgbClr val="0D948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+ IndicTrans2</a:t>
            </a:r>
            <a:endParaRPr dirty="0"/>
          </a:p>
        </p:txBody>
      </p:sp>
      <p:sp>
        <p:nvSpPr>
          <p:cNvPr id="203" name="Google Shape;203;p15"/>
          <p:cNvSpPr txBox="1"/>
          <p:nvPr/>
        </p:nvSpPr>
        <p:spPr>
          <a:xfrm>
            <a:off x="8302525" y="3237160"/>
            <a:ext cx="3174950" cy="745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Deterministic routing of PDF lab panels and handwritten outpatient scripts.</a:t>
            </a:r>
            <a:endParaRPr/>
          </a:p>
        </p:txBody>
      </p:sp>
      <p:sp>
        <p:nvSpPr>
          <p:cNvPr id="204" name="Google Shape;204;p15"/>
          <p:cNvSpPr txBox="1"/>
          <p:nvPr/>
        </p:nvSpPr>
        <p:spPr>
          <a:xfrm>
            <a:off x="8302525" y="4147405"/>
            <a:ext cx="38496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D9770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Pipeline: </a:t>
            </a:r>
            <a:r>
              <a:rPr lang="en-US" sz="1050" b="1" i="0" u="none" strike="noStrike" cap="none" dirty="0" err="1">
                <a:solidFill>
                  <a:srgbClr val="D9770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PyMuPDF</a:t>
            </a:r>
            <a:r>
              <a:rPr lang="en-US" sz="1050" b="1" i="0" u="none" strike="noStrike" cap="none" dirty="0">
                <a:solidFill>
                  <a:srgbClr val="D9770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+ </a:t>
            </a:r>
            <a:r>
              <a:rPr lang="en-US" sz="1050" b="1" i="0" u="none" strike="noStrike" cap="none" dirty="0" err="1">
                <a:solidFill>
                  <a:srgbClr val="D9770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mmproj</a:t>
            </a:r>
            <a:r>
              <a:rPr lang="en-US" sz="1050" b="1" i="0" u="none" strike="noStrike" cap="none" dirty="0">
                <a:solidFill>
                  <a:srgbClr val="D9770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VLM</a:t>
            </a:r>
            <a:endParaRPr dirty="0"/>
          </a:p>
        </p:txBody>
      </p:sp>
      <p:sp>
        <p:nvSpPr>
          <p:cNvPr id="205" name="Google Shape;205;p15"/>
          <p:cNvSpPr txBox="1"/>
          <p:nvPr/>
        </p:nvSpPr>
        <p:spPr>
          <a:xfrm>
            <a:off x="2082998" y="5924550"/>
            <a:ext cx="91678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Phase 1 (Active)</a:t>
            </a:r>
            <a:endParaRPr/>
          </a:p>
        </p:txBody>
      </p:sp>
      <p:sp>
        <p:nvSpPr>
          <p:cNvPr id="206" name="Google Shape;206;p15"/>
          <p:cNvSpPr txBox="1"/>
          <p:nvPr/>
        </p:nvSpPr>
        <p:spPr>
          <a:xfrm>
            <a:off x="3056929" y="5886450"/>
            <a:ext cx="368855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Text clinical triage, Hinglish translation &amp; Laya routing</a:t>
            </a:r>
            <a:endParaRPr/>
          </a:p>
        </p:txBody>
      </p:sp>
      <p:sp>
        <p:nvSpPr>
          <p:cNvPr id="207" name="Google Shape;207;p15"/>
          <p:cNvSpPr txBox="1"/>
          <p:nvPr/>
        </p:nvSpPr>
        <p:spPr>
          <a:xfrm>
            <a:off x="6916935" y="5924550"/>
            <a:ext cx="110862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Phase 2 (Roadmap)</a:t>
            </a:r>
            <a:endParaRPr dirty="0"/>
          </a:p>
        </p:txBody>
      </p:sp>
      <p:sp>
        <p:nvSpPr>
          <p:cNvPr id="208" name="Google Shape;208;p15"/>
          <p:cNvSpPr txBox="1"/>
          <p:nvPr/>
        </p:nvSpPr>
        <p:spPr>
          <a:xfrm>
            <a:off x="8082706" y="5886450"/>
            <a:ext cx="344254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Hybrid lab PDF extraction + Doctor Rx vision LoRA</a:t>
            </a:r>
            <a:endParaRPr/>
          </a:p>
        </p:txBody>
      </p:sp>
      <p:sp>
        <p:nvSpPr>
          <p:cNvPr id="209" name="Google Shape;209;p15"/>
          <p:cNvSpPr txBox="1"/>
          <p:nvPr/>
        </p:nvSpPr>
        <p:spPr>
          <a:xfrm>
            <a:off x="666750" y="2799010"/>
            <a:ext cx="609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/>
          </a:p>
        </p:txBody>
      </p:sp>
      <p:sp>
        <p:nvSpPr>
          <p:cNvPr id="210" name="Google Shape;210;p15"/>
          <p:cNvSpPr txBox="1"/>
          <p:nvPr/>
        </p:nvSpPr>
        <p:spPr>
          <a:xfrm>
            <a:off x="1228725" y="2841873"/>
            <a:ext cx="2550318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Clinical Triage Engine</a:t>
            </a:r>
            <a:endParaRPr/>
          </a:p>
        </p:txBody>
      </p:sp>
      <p:sp>
        <p:nvSpPr>
          <p:cNvPr id="211" name="Google Shape;211;p15"/>
          <p:cNvSpPr txBox="1"/>
          <p:nvPr/>
        </p:nvSpPr>
        <p:spPr>
          <a:xfrm>
            <a:off x="4413200" y="2799010"/>
            <a:ext cx="609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/>
          </a:p>
        </p:txBody>
      </p:sp>
      <p:sp>
        <p:nvSpPr>
          <p:cNvPr id="212" name="Google Shape;212;p15"/>
          <p:cNvSpPr txBox="1"/>
          <p:nvPr/>
        </p:nvSpPr>
        <p:spPr>
          <a:xfrm>
            <a:off x="4975175" y="2841873"/>
            <a:ext cx="212526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Indic Localization</a:t>
            </a:r>
            <a:endParaRPr/>
          </a:p>
        </p:txBody>
      </p:sp>
      <p:sp>
        <p:nvSpPr>
          <p:cNvPr id="213" name="Google Shape;213;p15"/>
          <p:cNvSpPr txBox="1"/>
          <p:nvPr/>
        </p:nvSpPr>
        <p:spPr>
          <a:xfrm>
            <a:off x="8159650" y="2799010"/>
            <a:ext cx="609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/>
          </a:p>
        </p:txBody>
      </p:sp>
      <p:sp>
        <p:nvSpPr>
          <p:cNvPr id="214" name="Google Shape;214;p15"/>
          <p:cNvSpPr txBox="1"/>
          <p:nvPr/>
        </p:nvSpPr>
        <p:spPr>
          <a:xfrm>
            <a:off x="8721625" y="2841873"/>
            <a:ext cx="2187773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Multimodal Intake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71233" y="3371850"/>
            <a:ext cx="10477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5350" y="4572000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6"/>
          <p:cNvSpPr txBox="1"/>
          <p:nvPr/>
        </p:nvSpPr>
        <p:spPr>
          <a:xfrm>
            <a:off x="457200" y="304800"/>
            <a:ext cx="6691312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PIPELINE CANVAS</a:t>
            </a:r>
            <a:endParaRPr dirty="0"/>
          </a:p>
        </p:txBody>
      </p:sp>
      <p:sp>
        <p:nvSpPr>
          <p:cNvPr id="247" name="Google Shape;247;p16"/>
          <p:cNvSpPr txBox="1"/>
          <p:nvPr/>
        </p:nvSpPr>
        <p:spPr>
          <a:xfrm>
            <a:off x="457200" y="495300"/>
            <a:ext cx="7025878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 Architecture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91D35DC-07FC-9C23-68C5-ACE534C2ABD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046816"/>
            <a:ext cx="12192000" cy="476436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0336E78-C942-F234-3153-F17FC78A92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0514" y="2688337"/>
            <a:ext cx="329184" cy="32918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2" name="Picture 21" descr="File:WhatsApp.svg - Wikimedia Commons">
            <a:extLst>
              <a:ext uri="{FF2B5EF4-FFF2-40B4-BE49-F238E27FC236}">
                <a16:creationId xmlns:a16="http://schemas.microsoft.com/office/drawing/2014/main" id="{F8C755C1-8744-96CC-12E4-C6770F61D1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669" y="2688337"/>
            <a:ext cx="383249" cy="384047"/>
          </a:xfrm>
          <a:prstGeom prst="rect">
            <a:avLst/>
          </a:prstGeom>
        </p:spPr>
      </p:pic>
      <p:pic>
        <p:nvPicPr>
          <p:cNvPr id="23" name="Picture 22" descr="Attachment - Free miscellaneous icons">
            <a:extLst>
              <a:ext uri="{FF2B5EF4-FFF2-40B4-BE49-F238E27FC236}">
                <a16:creationId xmlns:a16="http://schemas.microsoft.com/office/drawing/2014/main" id="{9FD4D4D0-9E01-D899-1D88-E0169CBB80B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48761" y="4270442"/>
            <a:ext cx="336416" cy="336416"/>
          </a:xfrm>
          <a:prstGeom prst="rect">
            <a:avLst/>
          </a:prstGeom>
          <a:solidFill>
            <a:srgbClr val="F1F5F9"/>
          </a:solidFill>
        </p:spPr>
      </p:pic>
      <p:pic>
        <p:nvPicPr>
          <p:cNvPr id="24" name="Picture 23" descr="Qwen Icon &amp; Logo | Dashboard Icons &amp; Logos">
            <a:extLst>
              <a:ext uri="{FF2B5EF4-FFF2-40B4-BE49-F238E27FC236}">
                <a16:creationId xmlns:a16="http://schemas.microsoft.com/office/drawing/2014/main" id="{D4E6C3DB-8409-C770-4651-B232CBE4036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553" y="4270442"/>
            <a:ext cx="340359" cy="336417"/>
          </a:xfrm>
          <a:prstGeom prst="rect">
            <a:avLst/>
          </a:prstGeom>
        </p:spPr>
      </p:pic>
      <p:pic>
        <p:nvPicPr>
          <p:cNvPr id="26" name="Picture 25" descr="Qwen Icon &amp; Logo | Dashboard Icons &amp; Logos">
            <a:extLst>
              <a:ext uri="{FF2B5EF4-FFF2-40B4-BE49-F238E27FC236}">
                <a16:creationId xmlns:a16="http://schemas.microsoft.com/office/drawing/2014/main" id="{7195A99C-E3DB-3D5C-1865-224DD5D2B1E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09276" y="4470466"/>
            <a:ext cx="340359" cy="336417"/>
          </a:xfrm>
          <a:prstGeom prst="rect">
            <a:avLst/>
          </a:prstGeom>
        </p:spPr>
      </p:pic>
      <p:pic>
        <p:nvPicPr>
          <p:cNvPr id="29" name="Picture 28" descr="File:Postgresql elephant.svg - Wikimedia Commons">
            <a:extLst>
              <a:ext uri="{FF2B5EF4-FFF2-40B4-BE49-F238E27FC236}">
                <a16:creationId xmlns:a16="http://schemas.microsoft.com/office/drawing/2014/main" id="{011B98B9-D143-90BB-BDC4-240BF126849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48512" y="2629468"/>
            <a:ext cx="383249" cy="39512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D740BF4-7CE5-44E9-B6BA-28F7AA108F7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62280" y="3272475"/>
            <a:ext cx="560931" cy="56093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EA01AAB-DFD1-FB92-B061-D2E7CAD3824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80178" y="4203047"/>
            <a:ext cx="311857" cy="359974"/>
          </a:xfrm>
          <a:prstGeom prst="rect">
            <a:avLst/>
          </a:prstGeom>
        </p:spPr>
      </p:pic>
      <p:pic>
        <p:nvPicPr>
          <p:cNvPr id="34" name="Picture 33" descr="GitHub - pymupdf/PyMuPDF: PyMuPDF is a high performance Python library for  data extraction, analysis, conversion &amp; manipulation of PDF (and other)  documents. · GitHub">
            <a:extLst>
              <a:ext uri="{FF2B5EF4-FFF2-40B4-BE49-F238E27FC236}">
                <a16:creationId xmlns:a16="http://schemas.microsoft.com/office/drawing/2014/main" id="{61119ABF-32BB-EC1B-1BB1-087EACB30C9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32023" y="4970905"/>
            <a:ext cx="476232" cy="476232"/>
          </a:xfrm>
          <a:prstGeom prst="rect">
            <a:avLst/>
          </a:prstGeom>
        </p:spPr>
      </p:pic>
      <p:pic>
        <p:nvPicPr>
          <p:cNvPr id="35" name="Picture 34" descr="Medical White Cross and Emergency Symbol Stock Illustration - Illustration  of logo, illness: 154491724">
            <a:extLst>
              <a:ext uri="{FF2B5EF4-FFF2-40B4-BE49-F238E27FC236}">
                <a16:creationId xmlns:a16="http://schemas.microsoft.com/office/drawing/2014/main" id="{3FE0322A-30BB-0A61-E2C7-5F9576DCE35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48512" y="1716122"/>
            <a:ext cx="443523" cy="443523"/>
          </a:xfrm>
          <a:prstGeom prst="rect">
            <a:avLst/>
          </a:prstGeom>
        </p:spPr>
      </p:pic>
      <p:pic>
        <p:nvPicPr>
          <p:cNvPr id="36" name="Picture 35" descr="GitHub - AI4Bharat/IndicXlit: Transliteration models for 21 Indic languages  · GitHub">
            <a:extLst>
              <a:ext uri="{FF2B5EF4-FFF2-40B4-BE49-F238E27FC236}">
                <a16:creationId xmlns:a16="http://schemas.microsoft.com/office/drawing/2014/main" id="{7AA89CA7-9367-8A77-AE0C-F6EEDBFE01F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15959" y="2002831"/>
            <a:ext cx="340359" cy="340359"/>
          </a:xfrm>
          <a:prstGeom prst="rect">
            <a:avLst/>
          </a:prstGeom>
        </p:spPr>
      </p:pic>
      <p:pic>
        <p:nvPicPr>
          <p:cNvPr id="38" name="Picture 37" descr="GitHub - AI4Bharat/IndicXlit: Transliteration models for 21 Indic languages  · GitHub">
            <a:extLst>
              <a:ext uri="{FF2B5EF4-FFF2-40B4-BE49-F238E27FC236}">
                <a16:creationId xmlns:a16="http://schemas.microsoft.com/office/drawing/2014/main" id="{CDCD0919-9237-D704-B8EC-2AC534EBF09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13857" y="2684235"/>
            <a:ext cx="340359" cy="340359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4F86C857-DF0D-8643-A4F7-980522F326D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97038" y="2691308"/>
            <a:ext cx="432292" cy="333286"/>
          </a:xfrm>
          <a:prstGeom prst="rect">
            <a:avLst/>
          </a:prstGeom>
        </p:spPr>
      </p:pic>
      <p:pic>
        <p:nvPicPr>
          <p:cNvPr id="43" name="Picture 42" descr="Packaging in France: the Triman Logo and Mandatory Sorting ...">
            <a:extLst>
              <a:ext uri="{FF2B5EF4-FFF2-40B4-BE49-F238E27FC236}">
                <a16:creationId xmlns:a16="http://schemas.microsoft.com/office/drawing/2014/main" id="{33AA08B7-D865-41A2-7B22-62F7043CEFB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40562" y="4970905"/>
            <a:ext cx="393105" cy="403811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B99408FA-BD1E-1FC9-10CF-C30D4C36730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542719" y="4225943"/>
            <a:ext cx="432292" cy="333286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D4533026-80EF-FBA7-ECA1-E44154FBC4A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12296" y="4525363"/>
            <a:ext cx="374925" cy="359974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160736D-AB09-423E-AFE0-66DAE354D44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12831" y="2684235"/>
            <a:ext cx="395126" cy="395126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173ECB5A-00A1-06C1-F9E4-F3CA70627005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773563" y="4257719"/>
            <a:ext cx="427220" cy="336417"/>
          </a:xfrm>
          <a:prstGeom prst="rect">
            <a:avLst/>
          </a:prstGeom>
        </p:spPr>
      </p:pic>
      <p:pic>
        <p:nvPicPr>
          <p:cNvPr id="52" name="Picture 51" descr="The 8 Best Text to Speech Voice Providers">
            <a:extLst>
              <a:ext uri="{FF2B5EF4-FFF2-40B4-BE49-F238E27FC236}">
                <a16:creationId xmlns:a16="http://schemas.microsoft.com/office/drawing/2014/main" id="{8408322C-0FEF-DCC0-15C6-7C457524F8DF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296651" y="4509206"/>
            <a:ext cx="446108" cy="297677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AAD233BA-A1C5-C293-5EA8-999782FD858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167085" y="2740372"/>
            <a:ext cx="446769" cy="2612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 txBox="1"/>
          <p:nvPr/>
        </p:nvSpPr>
        <p:spPr>
          <a:xfrm>
            <a:off x="571500" y="381000"/>
            <a:ext cx="11049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TECHNICAL FEASIBILITY &amp; TOOLKIT</a:t>
            </a:r>
            <a:endParaRPr sz="1050" b="1">
              <a:solidFill>
                <a:srgbClr val="0284C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79" name="Google Shape;279;p18"/>
          <p:cNvSpPr txBox="1"/>
          <p:nvPr/>
        </p:nvSpPr>
        <p:spPr>
          <a:xfrm>
            <a:off x="571500" y="590550"/>
            <a:ext cx="11049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8" b="1" dirty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 Technology Stack &amp; Edge Engines</a:t>
            </a:r>
            <a:endParaRPr sz="2498" b="1" dirty="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80" name="Google Shape;280;p18"/>
          <p:cNvSpPr txBox="1"/>
          <p:nvPr/>
        </p:nvSpPr>
        <p:spPr>
          <a:xfrm>
            <a:off x="571500" y="10287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49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Fully decoupled, zero-cloud dependency stack optimized for 4GB RAM commodity hardware.</a:t>
            </a:r>
            <a:endParaRPr sz="1249" b="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81" name="Google Shape;281;p18"/>
          <p:cNvGrpSpPr/>
          <p:nvPr/>
        </p:nvGrpSpPr>
        <p:grpSpPr>
          <a:xfrm>
            <a:off x="566738" y="1423988"/>
            <a:ext cx="2600400" cy="4391100"/>
            <a:chOff x="566738" y="1423988"/>
            <a:chExt cx="2600400" cy="4391100"/>
          </a:xfrm>
        </p:grpSpPr>
        <p:pic>
          <p:nvPicPr>
            <p:cNvPr id="282" name="Google Shape;282;p1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66738" y="1423988"/>
              <a:ext cx="2600400" cy="4391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18"/>
            <p:cNvSpPr txBox="1"/>
            <p:nvPr/>
          </p:nvSpPr>
          <p:spPr>
            <a:xfrm>
              <a:off x="723900" y="1581150"/>
              <a:ext cx="2286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49" b="1">
                  <a:solidFill>
                    <a:srgbClr val="38BDF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Client &amp; API Gateway</a:t>
              </a:r>
              <a:endParaRPr sz="1249" b="1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84" name="Google Shape;284;p18"/>
            <p:cNvSpPr/>
            <p:nvPr/>
          </p:nvSpPr>
          <p:spPr>
            <a:xfrm>
              <a:off x="723900" y="1905000"/>
              <a:ext cx="2286000" cy="1047900"/>
            </a:xfrm>
            <a:prstGeom prst="roundRect">
              <a:avLst>
                <a:gd name="adj" fmla="val 5454"/>
              </a:avLst>
            </a:prstGeom>
            <a:solidFill>
              <a:srgbClr val="0F172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18"/>
            <p:cNvSpPr txBox="1"/>
            <p:nvPr/>
          </p:nvSpPr>
          <p:spPr>
            <a:xfrm>
              <a:off x="838200" y="1981200"/>
              <a:ext cx="2057400" cy="8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38BDF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React</a:t>
              </a:r>
              <a:endParaRPr sz="1100" b="1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95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Webhook WhatsApp UI simulation and interactive testing dashboard.</a:t>
              </a:r>
              <a:endParaRPr sz="95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86" name="Google Shape;286;p18"/>
            <p:cNvSpPr/>
            <p:nvPr/>
          </p:nvSpPr>
          <p:spPr>
            <a:xfrm>
              <a:off x="723900" y="3048000"/>
              <a:ext cx="2286000" cy="1047900"/>
            </a:xfrm>
            <a:prstGeom prst="roundRect">
              <a:avLst>
                <a:gd name="adj" fmla="val 5454"/>
              </a:avLst>
            </a:prstGeom>
            <a:solidFill>
              <a:srgbClr val="0F172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18"/>
            <p:cNvSpPr txBox="1"/>
            <p:nvPr/>
          </p:nvSpPr>
          <p:spPr>
            <a:xfrm>
              <a:off x="838200" y="3124200"/>
              <a:ext cx="2057400" cy="8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38BDF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React Native (Expo)</a:t>
              </a:r>
              <a:endParaRPr sz="1100" b="1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95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Lightweight, cross-platform PWA &amp; mobile client.</a:t>
              </a:r>
              <a:endParaRPr sz="95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88" name="Google Shape;288;p18"/>
            <p:cNvSpPr/>
            <p:nvPr/>
          </p:nvSpPr>
          <p:spPr>
            <a:xfrm>
              <a:off x="723900" y="4191000"/>
              <a:ext cx="2286000" cy="1047900"/>
            </a:xfrm>
            <a:prstGeom prst="roundRect">
              <a:avLst>
                <a:gd name="adj" fmla="val 5454"/>
              </a:avLst>
            </a:prstGeom>
            <a:solidFill>
              <a:srgbClr val="0F172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8"/>
            <p:cNvSpPr txBox="1"/>
            <p:nvPr/>
          </p:nvSpPr>
          <p:spPr>
            <a:xfrm>
              <a:off x="838200" y="4267200"/>
              <a:ext cx="2057400" cy="8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38BDF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FastAPI + Uvicorn</a:t>
              </a:r>
              <a:endParaRPr sz="1100" b="1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95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High-throughput async REST API &amp; WebSocket gateway.</a:t>
              </a:r>
              <a:endParaRPr sz="95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90" name="Google Shape;290;p18"/>
          <p:cNvGrpSpPr/>
          <p:nvPr/>
        </p:nvGrpSpPr>
        <p:grpSpPr>
          <a:xfrm>
            <a:off x="3386138" y="1423988"/>
            <a:ext cx="2600400" cy="4391100"/>
            <a:chOff x="3386138" y="1423988"/>
            <a:chExt cx="2600400" cy="4391100"/>
          </a:xfrm>
        </p:grpSpPr>
        <p:pic>
          <p:nvPicPr>
            <p:cNvPr id="291" name="Google Shape;291;p1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386138" y="1423988"/>
              <a:ext cx="2600400" cy="4391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2" name="Google Shape;292;p18"/>
            <p:cNvSpPr txBox="1"/>
            <p:nvPr/>
          </p:nvSpPr>
          <p:spPr>
            <a:xfrm>
              <a:off x="3543300" y="1581150"/>
              <a:ext cx="2286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49" b="1">
                  <a:solidFill>
                    <a:srgbClr val="34D39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AI Core &amp; Inference (Edge)</a:t>
              </a:r>
              <a:endParaRPr sz="1249" b="1">
                <a:solidFill>
                  <a:srgbClr val="34D399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93" name="Google Shape;293;p18"/>
            <p:cNvSpPr/>
            <p:nvPr/>
          </p:nvSpPr>
          <p:spPr>
            <a:xfrm>
              <a:off x="3543300" y="1905000"/>
              <a:ext cx="2286000" cy="1047900"/>
            </a:xfrm>
            <a:prstGeom prst="roundRect">
              <a:avLst>
                <a:gd name="adj" fmla="val 5454"/>
              </a:avLst>
            </a:prstGeom>
            <a:solidFill>
              <a:srgbClr val="0F172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8"/>
            <p:cNvSpPr txBox="1"/>
            <p:nvPr/>
          </p:nvSpPr>
          <p:spPr>
            <a:xfrm>
              <a:off x="3657600" y="1981200"/>
              <a:ext cx="2057400" cy="8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34D39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Qwen 3.5 2B (GGUF Q4_K_M)</a:t>
              </a:r>
              <a:endParaRPr sz="1100" b="1">
                <a:solidFill>
                  <a:srgbClr val="34D399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95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Quantized LLM served via local llama.cpp (&lt;1.31 GB footprint).</a:t>
              </a:r>
              <a:endParaRPr sz="95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95" name="Google Shape;295;p18"/>
            <p:cNvSpPr/>
            <p:nvPr/>
          </p:nvSpPr>
          <p:spPr>
            <a:xfrm>
              <a:off x="3543300" y="3048000"/>
              <a:ext cx="2286000" cy="1047900"/>
            </a:xfrm>
            <a:prstGeom prst="roundRect">
              <a:avLst>
                <a:gd name="adj" fmla="val 5454"/>
              </a:avLst>
            </a:prstGeom>
            <a:solidFill>
              <a:srgbClr val="0F172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18"/>
            <p:cNvSpPr txBox="1"/>
            <p:nvPr/>
          </p:nvSpPr>
          <p:spPr>
            <a:xfrm>
              <a:off x="3657600" y="3124200"/>
              <a:ext cx="2057400" cy="8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34D39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Laya AI Classifier</a:t>
              </a:r>
              <a:endParaRPr sz="1100" b="1">
                <a:solidFill>
                  <a:srgbClr val="34D399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95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Custom high-speed 6-class intent &amp; routing engine (&lt;40ms latency).</a:t>
              </a:r>
              <a:endParaRPr sz="95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97" name="Google Shape;297;p18"/>
            <p:cNvSpPr/>
            <p:nvPr/>
          </p:nvSpPr>
          <p:spPr>
            <a:xfrm>
              <a:off x="3543300" y="4191000"/>
              <a:ext cx="2286000" cy="1047900"/>
            </a:xfrm>
            <a:prstGeom prst="roundRect">
              <a:avLst>
                <a:gd name="adj" fmla="val 5454"/>
              </a:avLst>
            </a:prstGeom>
            <a:solidFill>
              <a:srgbClr val="0F172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18"/>
            <p:cNvSpPr txBox="1"/>
            <p:nvPr/>
          </p:nvSpPr>
          <p:spPr>
            <a:xfrm>
              <a:off x="3657600" y="4267200"/>
              <a:ext cx="2057400" cy="8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34D39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Qwen VLM &amp; EasyOCR</a:t>
              </a:r>
              <a:endParaRPr sz="1100" b="1">
                <a:solidFill>
                  <a:srgbClr val="34D399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95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Edge vision pipeline for prescription &amp; pathology OCR parsing.</a:t>
              </a:r>
              <a:endParaRPr sz="95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99" name="Google Shape;299;p18"/>
          <p:cNvGrpSpPr/>
          <p:nvPr/>
        </p:nvGrpSpPr>
        <p:grpSpPr>
          <a:xfrm>
            <a:off x="6205538" y="1423988"/>
            <a:ext cx="2600400" cy="4391100"/>
            <a:chOff x="6205538" y="1423988"/>
            <a:chExt cx="2600400" cy="4391100"/>
          </a:xfrm>
        </p:grpSpPr>
        <p:pic>
          <p:nvPicPr>
            <p:cNvPr id="300" name="Google Shape;300;p1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205538" y="1423988"/>
              <a:ext cx="2600400" cy="4391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1" name="Google Shape;301;p18"/>
            <p:cNvSpPr txBox="1"/>
            <p:nvPr/>
          </p:nvSpPr>
          <p:spPr>
            <a:xfrm>
              <a:off x="6362700" y="1581150"/>
              <a:ext cx="2286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49" b="1">
                  <a:solidFill>
                    <a:srgbClr val="FBBF24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Indic NLP &amp; Multilingual Voice</a:t>
              </a:r>
              <a:endParaRPr sz="1249" b="1">
                <a:solidFill>
                  <a:srgbClr val="FBBF24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02" name="Google Shape;302;p18"/>
            <p:cNvSpPr/>
            <p:nvPr/>
          </p:nvSpPr>
          <p:spPr>
            <a:xfrm>
              <a:off x="6362700" y="1905000"/>
              <a:ext cx="2286000" cy="1047900"/>
            </a:xfrm>
            <a:prstGeom prst="roundRect">
              <a:avLst>
                <a:gd name="adj" fmla="val 5454"/>
              </a:avLst>
            </a:prstGeom>
            <a:solidFill>
              <a:srgbClr val="0F172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8"/>
            <p:cNvSpPr txBox="1"/>
            <p:nvPr/>
          </p:nvSpPr>
          <p:spPr>
            <a:xfrm>
              <a:off x="6477000" y="1981200"/>
              <a:ext cx="2057400" cy="8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FBBF24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IndicLID &amp; IndicXlit</a:t>
              </a:r>
              <a:endParaRPr sz="1100" b="1">
                <a:solidFill>
                  <a:srgbClr val="FBBF24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95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Script detection and Romanized Hinglish to Native transliteration.</a:t>
              </a:r>
              <a:endParaRPr sz="95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04" name="Google Shape;304;p18"/>
            <p:cNvSpPr/>
            <p:nvPr/>
          </p:nvSpPr>
          <p:spPr>
            <a:xfrm>
              <a:off x="6362700" y="3048000"/>
              <a:ext cx="2286000" cy="1047900"/>
            </a:xfrm>
            <a:prstGeom prst="roundRect">
              <a:avLst>
                <a:gd name="adj" fmla="val 5454"/>
              </a:avLst>
            </a:prstGeom>
            <a:solidFill>
              <a:srgbClr val="0F172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8"/>
            <p:cNvSpPr txBox="1"/>
            <p:nvPr/>
          </p:nvSpPr>
          <p:spPr>
            <a:xfrm>
              <a:off x="6477000" y="3124200"/>
              <a:ext cx="2057400" cy="8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FBBF24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CTranslate2 (INT8) / NLLB-200</a:t>
              </a:r>
              <a:endParaRPr sz="1100" b="1">
                <a:solidFill>
                  <a:srgbClr val="FBBF24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95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Accelerated neural translation engine across 22 Indic languages.</a:t>
              </a:r>
              <a:endParaRPr sz="95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06" name="Google Shape;306;p18"/>
            <p:cNvSpPr/>
            <p:nvPr/>
          </p:nvSpPr>
          <p:spPr>
            <a:xfrm>
              <a:off x="6362700" y="4191000"/>
              <a:ext cx="2286000" cy="1047900"/>
            </a:xfrm>
            <a:prstGeom prst="roundRect">
              <a:avLst>
                <a:gd name="adj" fmla="val 5454"/>
              </a:avLst>
            </a:prstGeom>
            <a:solidFill>
              <a:srgbClr val="0F172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18"/>
            <p:cNvSpPr txBox="1"/>
            <p:nvPr/>
          </p:nvSpPr>
          <p:spPr>
            <a:xfrm>
              <a:off x="6477000" y="4267200"/>
              <a:ext cx="2057400" cy="8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FBBF24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Meta MMS VITS / Piper</a:t>
              </a:r>
              <a:endParaRPr sz="1100" b="1">
                <a:solidFill>
                  <a:srgbClr val="FBBF24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95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Zero-latency local speech synthesis (TTS) via ONNX C++.</a:t>
              </a:r>
              <a:endParaRPr sz="95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08" name="Google Shape;308;p18"/>
          <p:cNvGrpSpPr/>
          <p:nvPr/>
        </p:nvGrpSpPr>
        <p:grpSpPr>
          <a:xfrm>
            <a:off x="9024938" y="1423988"/>
            <a:ext cx="2600400" cy="4391100"/>
            <a:chOff x="9024938" y="1423988"/>
            <a:chExt cx="2600400" cy="4391100"/>
          </a:xfrm>
        </p:grpSpPr>
        <p:pic>
          <p:nvPicPr>
            <p:cNvPr id="309" name="Google Shape;309;p1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024938" y="1423988"/>
              <a:ext cx="2600400" cy="4391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18"/>
            <p:cNvSpPr txBox="1"/>
            <p:nvPr/>
          </p:nvSpPr>
          <p:spPr>
            <a:xfrm>
              <a:off x="9182100" y="1581150"/>
              <a:ext cx="2286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49" b="1">
                  <a:solidFill>
                    <a:srgbClr val="F472B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Database &amp; Storage Layer</a:t>
              </a:r>
              <a:endParaRPr sz="1249" b="1">
                <a:solidFill>
                  <a:srgbClr val="F472B6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11" name="Google Shape;311;p18"/>
            <p:cNvSpPr/>
            <p:nvPr/>
          </p:nvSpPr>
          <p:spPr>
            <a:xfrm>
              <a:off x="9182100" y="1905000"/>
              <a:ext cx="2286000" cy="1047900"/>
            </a:xfrm>
            <a:prstGeom prst="roundRect">
              <a:avLst>
                <a:gd name="adj" fmla="val 5454"/>
              </a:avLst>
            </a:prstGeom>
            <a:solidFill>
              <a:srgbClr val="0F172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8"/>
            <p:cNvSpPr txBox="1"/>
            <p:nvPr/>
          </p:nvSpPr>
          <p:spPr>
            <a:xfrm>
              <a:off x="9296400" y="1981200"/>
              <a:ext cx="2057400" cy="8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F472B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Qdrant</a:t>
              </a:r>
              <a:endParaRPr sz="1100" b="1">
                <a:solidFill>
                  <a:srgbClr val="F472B6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95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High-performance Vector Database for ICMR clinical RAG &amp; semantic search.</a:t>
              </a:r>
              <a:endParaRPr sz="95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13" name="Google Shape;313;p18"/>
            <p:cNvSpPr/>
            <p:nvPr/>
          </p:nvSpPr>
          <p:spPr>
            <a:xfrm>
              <a:off x="9182100" y="3048000"/>
              <a:ext cx="2286000" cy="1047900"/>
            </a:xfrm>
            <a:prstGeom prst="roundRect">
              <a:avLst>
                <a:gd name="adj" fmla="val 5454"/>
              </a:avLst>
            </a:prstGeom>
            <a:solidFill>
              <a:srgbClr val="0F172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18"/>
            <p:cNvSpPr txBox="1"/>
            <p:nvPr/>
          </p:nvSpPr>
          <p:spPr>
            <a:xfrm>
              <a:off x="9296400" y="3124200"/>
              <a:ext cx="2057400" cy="8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F472B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PostgreSQL + SQLAlchemy</a:t>
              </a:r>
              <a:endParaRPr sz="1100" b="1">
                <a:solidFill>
                  <a:srgbClr val="F472B6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95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Relational store for health facilities &amp; scheme registries.</a:t>
              </a:r>
              <a:endParaRPr sz="95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15" name="Google Shape;315;p18"/>
            <p:cNvSpPr/>
            <p:nvPr/>
          </p:nvSpPr>
          <p:spPr>
            <a:xfrm>
              <a:off x="9182100" y="4191000"/>
              <a:ext cx="2286000" cy="1047900"/>
            </a:xfrm>
            <a:prstGeom prst="roundRect">
              <a:avLst>
                <a:gd name="adj" fmla="val 5454"/>
              </a:avLst>
            </a:prstGeom>
            <a:solidFill>
              <a:srgbClr val="0F172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18"/>
            <p:cNvSpPr txBox="1"/>
            <p:nvPr/>
          </p:nvSpPr>
          <p:spPr>
            <a:xfrm>
              <a:off x="9296400" y="4267200"/>
              <a:ext cx="2057400" cy="8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F472B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Valkey / Cachetools</a:t>
              </a:r>
              <a:endParaRPr sz="1100" b="1">
                <a:solidFill>
                  <a:srgbClr val="F472B6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95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In-memory caching for zero-latency frequent query lookups.</a:t>
              </a:r>
              <a:endParaRPr sz="95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17" name="Google Shape;317;p18"/>
          <p:cNvGrpSpPr/>
          <p:nvPr/>
        </p:nvGrpSpPr>
        <p:grpSpPr>
          <a:xfrm>
            <a:off x="566738" y="5995988"/>
            <a:ext cx="11058600" cy="428700"/>
            <a:chOff x="566738" y="5995988"/>
            <a:chExt cx="11058600" cy="428700"/>
          </a:xfrm>
        </p:grpSpPr>
        <p:pic>
          <p:nvPicPr>
            <p:cNvPr id="318" name="Google Shape;318;p1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66738" y="5995988"/>
              <a:ext cx="11058600" cy="428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9" name="Google Shape;319;p18"/>
            <p:cNvSpPr txBox="1"/>
            <p:nvPr/>
          </p:nvSpPr>
          <p:spPr>
            <a:xfrm>
              <a:off x="762000" y="6115050"/>
              <a:ext cx="10668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100% Offline Edge Deployable • Zero Cloud GPU Required • RAM Footprint ≤ 2.8 GB</a:t>
              </a:r>
              <a:endParaRPr sz="1050" b="1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7"/>
          <p:cNvSpPr/>
          <p:nvPr/>
        </p:nvSpPr>
        <p:spPr>
          <a:xfrm>
            <a:off x="571500" y="1832967"/>
            <a:ext cx="5410200" cy="3658790"/>
          </a:xfrm>
          <a:prstGeom prst="roundRect">
            <a:avLst>
              <a:gd name="adj" fmla="val 3123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7"/>
          <p:cNvSpPr/>
          <p:nvPr/>
        </p:nvSpPr>
        <p:spPr>
          <a:xfrm>
            <a:off x="6210300" y="1832967"/>
            <a:ext cx="5410200" cy="3658790"/>
          </a:xfrm>
          <a:prstGeom prst="roundRect">
            <a:avLst>
              <a:gd name="adj" fmla="val 3123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7"/>
          <p:cNvSpPr/>
          <p:nvPr/>
        </p:nvSpPr>
        <p:spPr>
          <a:xfrm>
            <a:off x="809625" y="4929782"/>
            <a:ext cx="4933950" cy="323850"/>
          </a:xfrm>
          <a:prstGeom prst="roundRect">
            <a:avLst>
              <a:gd name="adj" fmla="val 17647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7"/>
          <p:cNvSpPr/>
          <p:nvPr/>
        </p:nvSpPr>
        <p:spPr>
          <a:xfrm>
            <a:off x="6448425" y="4929782"/>
            <a:ext cx="4933950" cy="323850"/>
          </a:xfrm>
          <a:prstGeom prst="roundRect">
            <a:avLst>
              <a:gd name="adj" fmla="val 17647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7"/>
          <p:cNvSpPr/>
          <p:nvPr/>
        </p:nvSpPr>
        <p:spPr>
          <a:xfrm>
            <a:off x="809625" y="2166342"/>
            <a:ext cx="76200" cy="762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7"/>
          <p:cNvSpPr/>
          <p:nvPr/>
        </p:nvSpPr>
        <p:spPr>
          <a:xfrm>
            <a:off x="6448425" y="2166342"/>
            <a:ext cx="76200" cy="7620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7"/>
          <p:cNvSpPr txBox="1"/>
          <p:nvPr/>
        </p:nvSpPr>
        <p:spPr>
          <a:xfrm>
            <a:off x="571500" y="6267450"/>
            <a:ext cx="11620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Phase 1: Track A Active • Phase 2: Track B Integration</a:t>
            </a:r>
            <a:endParaRPr dirty="0"/>
          </a:p>
        </p:txBody>
      </p:sp>
      <p:sp>
        <p:nvSpPr>
          <p:cNvPr id="284" name="Google Shape;284;p17"/>
          <p:cNvSpPr txBox="1"/>
          <p:nvPr/>
        </p:nvSpPr>
        <p:spPr>
          <a:xfrm>
            <a:off x="571500" y="419100"/>
            <a:ext cx="11620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ENGINEERING DEEP-DIVE</a:t>
            </a:r>
            <a:endParaRPr/>
          </a:p>
        </p:txBody>
      </p:sp>
      <p:sp>
        <p:nvSpPr>
          <p:cNvPr id="285" name="Google Shape;285;p17"/>
          <p:cNvSpPr txBox="1"/>
          <p:nvPr/>
        </p:nvSpPr>
        <p:spPr>
          <a:xfrm>
            <a:off x="571500" y="628650"/>
            <a:ext cx="116205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Two-Track Ingestion Architecture</a:t>
            </a:r>
            <a:endParaRPr/>
          </a:p>
        </p:txBody>
      </p:sp>
      <p:sp>
        <p:nvSpPr>
          <p:cNvPr id="286" name="Google Shape;286;p17"/>
          <p:cNvSpPr txBox="1"/>
          <p:nvPr/>
        </p:nvSpPr>
        <p:spPr>
          <a:xfrm>
            <a:off x="923925" y="5005982"/>
            <a:ext cx="5881687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Stack: ModernBERT + IndicTrans2 + ONNX int8</a:t>
            </a:r>
            <a:endParaRPr/>
          </a:p>
        </p:txBody>
      </p:sp>
      <p:sp>
        <p:nvSpPr>
          <p:cNvPr id="287" name="Google Shape;287;p17"/>
          <p:cNvSpPr txBox="1"/>
          <p:nvPr/>
        </p:nvSpPr>
        <p:spPr>
          <a:xfrm>
            <a:off x="6562725" y="5005982"/>
            <a:ext cx="56292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Stack: PyMuPDF + Qwen VLM mmproj + FuzzyRx</a:t>
            </a:r>
            <a:endParaRPr/>
          </a:p>
        </p:txBody>
      </p:sp>
      <p:sp>
        <p:nvSpPr>
          <p:cNvPr id="288" name="Google Shape;288;p17"/>
          <p:cNvSpPr txBox="1"/>
          <p:nvPr/>
        </p:nvSpPr>
        <p:spPr>
          <a:xfrm>
            <a:off x="981075" y="2071092"/>
            <a:ext cx="3437929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Track A: Text &amp; Voice Core</a:t>
            </a:r>
            <a:endParaRPr/>
          </a:p>
        </p:txBody>
      </p:sp>
      <p:sp>
        <p:nvSpPr>
          <p:cNvPr id="289" name="Google Shape;289;p17"/>
          <p:cNvSpPr txBox="1"/>
          <p:nvPr/>
        </p:nvSpPr>
        <p:spPr>
          <a:xfrm>
            <a:off x="809625" y="2452092"/>
            <a:ext cx="616743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Indic Normalization Pipeline</a:t>
            </a:r>
            <a:endParaRPr/>
          </a:p>
        </p:txBody>
      </p:sp>
      <p:sp>
        <p:nvSpPr>
          <p:cNvPr id="290" name="Google Shape;290;p17"/>
          <p:cNvSpPr txBox="1"/>
          <p:nvPr/>
        </p:nvSpPr>
        <p:spPr>
          <a:xfrm>
            <a:off x="809625" y="2671167"/>
            <a:ext cx="5029200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IndicLID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identifies regional scripts;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IndicXlit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converts Latin Hinglish before IndicTrans2/ translation.</a:t>
            </a:r>
            <a:endParaRPr dirty="0"/>
          </a:p>
        </p:txBody>
      </p:sp>
      <p:sp>
        <p:nvSpPr>
          <p:cNvPr id="291" name="Google Shape;291;p17"/>
          <p:cNvSpPr txBox="1"/>
          <p:nvPr/>
        </p:nvSpPr>
        <p:spPr>
          <a:xfrm>
            <a:off x="809625" y="3284339"/>
            <a:ext cx="616743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ModernBERT Laya Router</a:t>
            </a:r>
            <a:endParaRPr/>
          </a:p>
        </p:txBody>
      </p:sp>
      <p:sp>
        <p:nvSpPr>
          <p:cNvPr id="292" name="Google Shape;292;p17"/>
          <p:cNvSpPr txBox="1"/>
          <p:nvPr/>
        </p:nvSpPr>
        <p:spPr>
          <a:xfrm>
            <a:off x="809625" y="3503414"/>
            <a:ext cx="50292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421M non-autoregressive decision model routing queries in &lt;40ms across 6 distinct category classes.</a:t>
            </a:r>
            <a:endParaRPr dirty="0"/>
          </a:p>
        </p:txBody>
      </p:sp>
      <p:sp>
        <p:nvSpPr>
          <p:cNvPr id="293" name="Google Shape;293;p17"/>
          <p:cNvSpPr txBox="1"/>
          <p:nvPr/>
        </p:nvSpPr>
        <p:spPr>
          <a:xfrm>
            <a:off x="809625" y="4116585"/>
            <a:ext cx="616743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Deterministic Red-Flag Exit</a:t>
            </a:r>
            <a:endParaRPr/>
          </a:p>
        </p:txBody>
      </p:sp>
      <p:sp>
        <p:nvSpPr>
          <p:cNvPr id="294" name="Google Shape;294;p17"/>
          <p:cNvSpPr txBox="1"/>
          <p:nvPr/>
        </p:nvSpPr>
        <p:spPr>
          <a:xfrm>
            <a:off x="809625" y="4335660"/>
            <a:ext cx="502920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Critical emergencies instantly trigger 108/102 helpline links without model hallucination risk.</a:t>
            </a:r>
            <a:endParaRPr/>
          </a:p>
        </p:txBody>
      </p:sp>
      <p:sp>
        <p:nvSpPr>
          <p:cNvPr id="295" name="Google Shape;295;p17"/>
          <p:cNvSpPr txBox="1"/>
          <p:nvPr/>
        </p:nvSpPr>
        <p:spPr>
          <a:xfrm>
            <a:off x="6619875" y="2071092"/>
            <a:ext cx="465058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Track B: Document &amp; Vision Bypass</a:t>
            </a:r>
            <a:endParaRPr/>
          </a:p>
        </p:txBody>
      </p:sp>
      <p:sp>
        <p:nvSpPr>
          <p:cNvPr id="296" name="Google Shape;296;p17"/>
          <p:cNvSpPr txBox="1"/>
          <p:nvPr/>
        </p:nvSpPr>
        <p:spPr>
          <a:xfrm>
            <a:off x="6448425" y="2452092"/>
            <a:ext cx="57435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Deterministic Laya Bypass</a:t>
            </a:r>
            <a:endParaRPr/>
          </a:p>
        </p:txBody>
      </p:sp>
      <p:sp>
        <p:nvSpPr>
          <p:cNvPr id="297" name="Google Shape;297;p17"/>
          <p:cNvSpPr txBox="1"/>
          <p:nvPr/>
        </p:nvSpPr>
        <p:spPr>
          <a:xfrm>
            <a:off x="6448425" y="2671167"/>
            <a:ext cx="502920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MIME presence automatically circumvents text intent classification, saving 100% token overhead.</a:t>
            </a:r>
            <a:endParaRPr/>
          </a:p>
        </p:txBody>
      </p:sp>
      <p:sp>
        <p:nvSpPr>
          <p:cNvPr id="298" name="Google Shape;298;p17"/>
          <p:cNvSpPr txBox="1"/>
          <p:nvPr/>
        </p:nvSpPr>
        <p:spPr>
          <a:xfrm>
            <a:off x="6448425" y="3284339"/>
            <a:ext cx="57435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Pathology Parser (PDF)</a:t>
            </a:r>
            <a:endParaRPr dirty="0"/>
          </a:p>
        </p:txBody>
      </p:sp>
      <p:sp>
        <p:nvSpPr>
          <p:cNvPr id="299" name="Google Shape;299;p17"/>
          <p:cNvSpPr txBox="1"/>
          <p:nvPr/>
        </p:nvSpPr>
        <p:spPr>
          <a:xfrm>
            <a:off x="6448425" y="3503414"/>
            <a:ext cx="502920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PyMuPDF deterministic table extraction for CBC, LFT, and metabolic panels in &lt;10ms.</a:t>
            </a:r>
            <a:endParaRPr/>
          </a:p>
        </p:txBody>
      </p:sp>
      <p:sp>
        <p:nvSpPr>
          <p:cNvPr id="300" name="Google Shape;300;p17"/>
          <p:cNvSpPr txBox="1"/>
          <p:nvPr/>
        </p:nvSpPr>
        <p:spPr>
          <a:xfrm>
            <a:off x="6448425" y="4116585"/>
            <a:ext cx="57435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Prescription Vision LoRA</a:t>
            </a:r>
            <a:endParaRPr/>
          </a:p>
        </p:txBody>
      </p:sp>
      <p:sp>
        <p:nvSpPr>
          <p:cNvPr id="301" name="Google Shape;301;p17"/>
          <p:cNvSpPr txBox="1"/>
          <p:nvPr/>
        </p:nvSpPr>
        <p:spPr>
          <a:xfrm>
            <a:off x="6448425" y="4335660"/>
            <a:ext cx="502920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Qwen mmproj vision model paired with 10,000+ Indian generic drug lexicon fuzzy matcher.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8"/>
          <p:cNvSpPr/>
          <p:nvPr/>
        </p:nvSpPr>
        <p:spPr>
          <a:xfrm>
            <a:off x="571500" y="2227510"/>
            <a:ext cx="4958208" cy="2869703"/>
          </a:xfrm>
          <a:prstGeom prst="roundRect">
            <a:avLst>
              <a:gd name="adj" fmla="val 3982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8"/>
          <p:cNvSpPr/>
          <p:nvPr/>
        </p:nvSpPr>
        <p:spPr>
          <a:xfrm>
            <a:off x="5758308" y="2227510"/>
            <a:ext cx="5862191" cy="2869703"/>
          </a:xfrm>
          <a:prstGeom prst="roundRect">
            <a:avLst>
              <a:gd name="adj" fmla="val 3982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8"/>
          <p:cNvSpPr/>
          <p:nvPr/>
        </p:nvSpPr>
        <p:spPr>
          <a:xfrm>
            <a:off x="790575" y="4535239"/>
            <a:ext cx="4520058" cy="3429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8"/>
          <p:cNvSpPr/>
          <p:nvPr/>
        </p:nvSpPr>
        <p:spPr>
          <a:xfrm>
            <a:off x="5977383" y="4506664"/>
            <a:ext cx="5424041" cy="371475"/>
          </a:xfrm>
          <a:prstGeom prst="roundRect">
            <a:avLst>
              <a:gd name="adj" fmla="val 15384"/>
            </a:avLst>
          </a:prstGeom>
          <a:solidFill>
            <a:srgbClr val="F0FDF4"/>
          </a:solidFill>
          <a:ln w="9525" cap="flat" cmpd="sng">
            <a:solidFill>
              <a:srgbClr val="86EF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8"/>
          <p:cNvSpPr/>
          <p:nvPr/>
        </p:nvSpPr>
        <p:spPr>
          <a:xfrm>
            <a:off x="790575" y="2818060"/>
            <a:ext cx="2193428" cy="742950"/>
          </a:xfrm>
          <a:prstGeom prst="roundRect">
            <a:avLst>
              <a:gd name="adj" fmla="val 10256"/>
            </a:avLst>
          </a:prstGeom>
          <a:solidFill>
            <a:srgbClr val="F0FDF4"/>
          </a:solidFill>
          <a:ln w="9525" cap="flat" cmpd="sng">
            <a:solidFill>
              <a:srgbClr val="BBF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8"/>
          <p:cNvSpPr/>
          <p:nvPr/>
        </p:nvSpPr>
        <p:spPr>
          <a:xfrm>
            <a:off x="3117353" y="2818060"/>
            <a:ext cx="2193428" cy="742950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9525" cap="flat" cmpd="sng">
            <a:solidFill>
              <a:srgbClr val="BAE6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2" name="Google Shape;312;p18"/>
          <p:cNvGraphicFramePr/>
          <p:nvPr/>
        </p:nvGraphicFramePr>
        <p:xfrm>
          <a:off x="5977383" y="2799010"/>
          <a:ext cx="5424025" cy="1447750"/>
        </p:xfrm>
        <a:graphic>
          <a:graphicData uri="http://schemas.openxmlformats.org/drawingml/2006/table">
            <a:tbl>
              <a:tblPr>
                <a:noFill/>
                <a:tableStyleId>{03C3D915-A5F6-4A37-A264-B08DF725F62C}</a:tableStyleId>
              </a:tblPr>
              <a:tblGrid>
                <a:gridCol w="176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7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0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9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64748B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MODULE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64748B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PRECISION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64748B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RAM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64748B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SPEED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AarogyaMitra Core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GGUF Q4_K_M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284C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~1.31 GB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18–25 tok/s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Laya Router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ModernBERT int8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284C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~0.45 GB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~35 ms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Indic Translation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IndicTrans2 int8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284C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~0.40 GB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~250 ms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Vision Projector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F16-mmproj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284C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~0.67 GB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On-demand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3" name="Google Shape;313;p18"/>
          <p:cNvSpPr txBox="1"/>
          <p:nvPr/>
        </p:nvSpPr>
        <p:spPr>
          <a:xfrm>
            <a:off x="571500" y="381000"/>
            <a:ext cx="11620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QUANTIZATION &amp; EFFICIENCY</a:t>
            </a:r>
            <a:endParaRPr/>
          </a:p>
        </p:txBody>
      </p:sp>
      <p:sp>
        <p:nvSpPr>
          <p:cNvPr id="314" name="Google Shape;314;p18"/>
          <p:cNvSpPr txBox="1"/>
          <p:nvPr/>
        </p:nvSpPr>
        <p:spPr>
          <a:xfrm>
            <a:off x="571500" y="590550"/>
            <a:ext cx="116205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 Training &amp; Edge Hardware Budget</a:t>
            </a:r>
            <a:endParaRPr/>
          </a:p>
        </p:txBody>
      </p:sp>
      <p:sp>
        <p:nvSpPr>
          <p:cNvPr id="315" name="Google Shape;315;p18"/>
          <p:cNvSpPr txBox="1"/>
          <p:nvPr/>
        </p:nvSpPr>
        <p:spPr>
          <a:xfrm>
            <a:off x="571500" y="6310312"/>
            <a:ext cx="64770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Fits entirely within standard 4GB commodity VM limits ($5/month hardware target).</a:t>
            </a:r>
            <a:endParaRPr/>
          </a:p>
        </p:txBody>
      </p:sp>
      <p:sp>
        <p:nvSpPr>
          <p:cNvPr id="316" name="Google Shape;316;p18"/>
          <p:cNvSpPr txBox="1"/>
          <p:nvPr/>
        </p:nvSpPr>
        <p:spPr>
          <a:xfrm>
            <a:off x="8572500" y="6305550"/>
            <a:ext cx="3619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Full Determinism • Zero Cloud Dependence</a:t>
            </a:r>
            <a:endParaRPr/>
          </a:p>
        </p:txBody>
      </p:sp>
      <p:sp>
        <p:nvSpPr>
          <p:cNvPr id="317" name="Google Shape;317;p18"/>
          <p:cNvSpPr txBox="1"/>
          <p:nvPr/>
        </p:nvSpPr>
        <p:spPr>
          <a:xfrm>
            <a:off x="790575" y="2446585"/>
            <a:ext cx="593257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AarogyaMitra Clinical SFT</a:t>
            </a:r>
            <a:endParaRPr/>
          </a:p>
        </p:txBody>
      </p:sp>
      <p:sp>
        <p:nvSpPr>
          <p:cNvPr id="318" name="Google Shape;318;p18"/>
          <p:cNvSpPr txBox="1"/>
          <p:nvPr/>
        </p:nvSpPr>
        <p:spPr>
          <a:xfrm>
            <a:off x="790575" y="3694360"/>
            <a:ext cx="4615308" cy="745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Parameter-Efficient LoRA fine-tuning on Qwen 3.5 2B via Unsloth. Enforces strict clinical triage protocol without catastrophic forgetting.</a:t>
            </a:r>
            <a:endParaRPr/>
          </a:p>
        </p:txBody>
      </p:sp>
      <p:sp>
        <p:nvSpPr>
          <p:cNvPr id="319" name="Google Shape;319;p18"/>
          <p:cNvSpPr txBox="1"/>
          <p:nvPr/>
        </p:nvSpPr>
        <p:spPr>
          <a:xfrm>
            <a:off x="914400" y="4620964"/>
            <a:ext cx="534051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Artifact: GGUF Q4_K_M (~1.31 GB) on Hugging Face</a:t>
            </a:r>
            <a:endParaRPr/>
          </a:p>
        </p:txBody>
      </p:sp>
      <p:sp>
        <p:nvSpPr>
          <p:cNvPr id="320" name="Google Shape;320;p18"/>
          <p:cNvSpPr txBox="1"/>
          <p:nvPr/>
        </p:nvSpPr>
        <p:spPr>
          <a:xfrm>
            <a:off x="5977383" y="2446585"/>
            <a:ext cx="621461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Edge Hardware Budget (Single 4-Core CPU VM)</a:t>
            </a:r>
            <a:endParaRPr/>
          </a:p>
        </p:txBody>
      </p:sp>
      <p:sp>
        <p:nvSpPr>
          <p:cNvPr id="321" name="Google Shape;321;p18"/>
          <p:cNvSpPr txBox="1"/>
          <p:nvPr/>
        </p:nvSpPr>
        <p:spPr>
          <a:xfrm>
            <a:off x="6101208" y="4611439"/>
            <a:ext cx="2059781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Total Combined Memory:</a:t>
            </a:r>
            <a:endParaRPr/>
          </a:p>
        </p:txBody>
      </p:sp>
      <p:sp>
        <p:nvSpPr>
          <p:cNvPr id="322" name="Google Shape;322;p18"/>
          <p:cNvSpPr txBox="1"/>
          <p:nvPr/>
        </p:nvSpPr>
        <p:spPr>
          <a:xfrm>
            <a:off x="9090570" y="4592389"/>
            <a:ext cx="273378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5803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≤ 2.8 GB RAM (Zero GPU)</a:t>
            </a:r>
            <a:endParaRPr/>
          </a:p>
        </p:txBody>
      </p:sp>
      <p:sp>
        <p:nvSpPr>
          <p:cNvPr id="323" name="Google Shape;323;p18"/>
          <p:cNvSpPr txBox="1"/>
          <p:nvPr/>
        </p:nvSpPr>
        <p:spPr>
          <a:xfrm>
            <a:off x="895350" y="2922835"/>
            <a:ext cx="2479848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Validation Loss Floor</a:t>
            </a:r>
            <a:endParaRPr/>
          </a:p>
        </p:txBody>
      </p:sp>
      <p:sp>
        <p:nvSpPr>
          <p:cNvPr id="324" name="Google Shape;324;p18"/>
          <p:cNvSpPr txBox="1"/>
          <p:nvPr/>
        </p:nvSpPr>
        <p:spPr>
          <a:xfrm>
            <a:off x="895350" y="3103810"/>
            <a:ext cx="2479848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5803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0.6385</a:t>
            </a:r>
            <a:endParaRPr/>
          </a:p>
        </p:txBody>
      </p:sp>
      <p:sp>
        <p:nvSpPr>
          <p:cNvPr id="325" name="Google Shape;325;p18"/>
          <p:cNvSpPr txBox="1"/>
          <p:nvPr/>
        </p:nvSpPr>
        <p:spPr>
          <a:xfrm>
            <a:off x="3222128" y="2922835"/>
            <a:ext cx="2479848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75985"/>
                </a:solidFill>
                <a:latin typeface="Inter"/>
                <a:ea typeface="Inter"/>
                <a:cs typeface="Inter"/>
                <a:sym typeface="Inter"/>
              </a:rPr>
              <a:t>Clinical Perplexity</a:t>
            </a:r>
            <a:endParaRPr/>
          </a:p>
        </p:txBody>
      </p:sp>
      <p:sp>
        <p:nvSpPr>
          <p:cNvPr id="326" name="Google Shape;326;p18"/>
          <p:cNvSpPr txBox="1"/>
          <p:nvPr/>
        </p:nvSpPr>
        <p:spPr>
          <a:xfrm>
            <a:off x="3222128" y="3103810"/>
            <a:ext cx="2479848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1.894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9"/>
          <p:cNvSpPr/>
          <p:nvPr/>
        </p:nvSpPr>
        <p:spPr>
          <a:xfrm>
            <a:off x="571500" y="1804987"/>
            <a:ext cx="11049000" cy="666750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9"/>
          <p:cNvSpPr/>
          <p:nvPr/>
        </p:nvSpPr>
        <p:spPr>
          <a:xfrm>
            <a:off x="571500" y="2566987"/>
            <a:ext cx="11049000" cy="666750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9"/>
          <p:cNvSpPr/>
          <p:nvPr/>
        </p:nvSpPr>
        <p:spPr>
          <a:xfrm>
            <a:off x="571500" y="3328987"/>
            <a:ext cx="11049000" cy="666750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9"/>
          <p:cNvSpPr/>
          <p:nvPr/>
        </p:nvSpPr>
        <p:spPr>
          <a:xfrm>
            <a:off x="571500" y="4090987"/>
            <a:ext cx="11049000" cy="666750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9"/>
          <p:cNvSpPr/>
          <p:nvPr/>
        </p:nvSpPr>
        <p:spPr>
          <a:xfrm>
            <a:off x="571500" y="4852987"/>
            <a:ext cx="11049000" cy="666750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6" name="Google Shape;33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2475" y="200501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2475" y="276701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2475" y="352901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2475" y="429101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2475" y="505301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8675" y="2071687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8675" y="2833687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8675" y="3595687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8675" y="4357687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8675" y="5119687"/>
            <a:ext cx="1143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9"/>
          <p:cNvSpPr txBox="1"/>
          <p:nvPr/>
        </p:nvSpPr>
        <p:spPr>
          <a:xfrm>
            <a:off x="571500" y="6305550"/>
            <a:ext cx="1162050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Complete functional stack deployed locally.</a:t>
            </a:r>
            <a:endParaRPr dirty="0"/>
          </a:p>
        </p:txBody>
      </p:sp>
      <p:sp>
        <p:nvSpPr>
          <p:cNvPr id="347" name="Google Shape;347;p19"/>
          <p:cNvSpPr txBox="1"/>
          <p:nvPr/>
        </p:nvSpPr>
        <p:spPr>
          <a:xfrm>
            <a:off x="571500" y="381000"/>
            <a:ext cx="11620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HACKATHON EXECUTION SCOPE</a:t>
            </a:r>
            <a:endParaRPr/>
          </a:p>
        </p:txBody>
      </p:sp>
      <p:sp>
        <p:nvSpPr>
          <p:cNvPr id="348" name="Google Shape;348;p19"/>
          <p:cNvSpPr txBox="1"/>
          <p:nvPr/>
        </p:nvSpPr>
        <p:spPr>
          <a:xfrm>
            <a:off x="571500" y="590550"/>
            <a:ext cx="116205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Working Prototype in 3 Hours</a:t>
            </a:r>
            <a:endParaRPr/>
          </a:p>
        </p:txBody>
      </p:sp>
      <p:sp>
        <p:nvSpPr>
          <p:cNvPr id="349" name="Google Shape;349;p19"/>
          <p:cNvSpPr txBox="1"/>
          <p:nvPr/>
        </p:nvSpPr>
        <p:spPr>
          <a:xfrm>
            <a:off x="11058525" y="2052637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6A34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READY</a:t>
            </a:r>
            <a:endParaRPr/>
          </a:p>
        </p:txBody>
      </p:sp>
      <p:sp>
        <p:nvSpPr>
          <p:cNvPr id="350" name="Google Shape;350;p19"/>
          <p:cNvSpPr txBox="1"/>
          <p:nvPr/>
        </p:nvSpPr>
        <p:spPr>
          <a:xfrm>
            <a:off x="11058525" y="2814637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6A34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READY</a:t>
            </a:r>
            <a:endParaRPr/>
          </a:p>
        </p:txBody>
      </p:sp>
      <p:sp>
        <p:nvSpPr>
          <p:cNvPr id="351" name="Google Shape;351;p19"/>
          <p:cNvSpPr txBox="1"/>
          <p:nvPr/>
        </p:nvSpPr>
        <p:spPr>
          <a:xfrm>
            <a:off x="11058525" y="3576637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6A34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READY</a:t>
            </a:r>
            <a:endParaRPr/>
          </a:p>
        </p:txBody>
      </p:sp>
      <p:sp>
        <p:nvSpPr>
          <p:cNvPr id="352" name="Google Shape;352;p19"/>
          <p:cNvSpPr txBox="1"/>
          <p:nvPr/>
        </p:nvSpPr>
        <p:spPr>
          <a:xfrm>
            <a:off x="11058525" y="4338637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6A34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READY</a:t>
            </a:r>
            <a:endParaRPr/>
          </a:p>
        </p:txBody>
      </p:sp>
      <p:sp>
        <p:nvSpPr>
          <p:cNvPr id="353" name="Google Shape;353;p19"/>
          <p:cNvSpPr txBox="1"/>
          <p:nvPr/>
        </p:nvSpPr>
        <p:spPr>
          <a:xfrm>
            <a:off x="11058525" y="5100637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6A34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READY</a:t>
            </a:r>
            <a:endParaRPr/>
          </a:p>
        </p:txBody>
      </p:sp>
      <p:sp>
        <p:nvSpPr>
          <p:cNvPr id="354" name="Google Shape;354;p19"/>
          <p:cNvSpPr txBox="1"/>
          <p:nvPr/>
        </p:nvSpPr>
        <p:spPr>
          <a:xfrm>
            <a:off x="1152525" y="1928812"/>
            <a:ext cx="912018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Live Local llama.cpp Server</a:t>
            </a:r>
            <a:endParaRPr/>
          </a:p>
        </p:txBody>
      </p:sp>
      <p:sp>
        <p:nvSpPr>
          <p:cNvPr id="355" name="Google Shape;355;p19"/>
          <p:cNvSpPr txBox="1"/>
          <p:nvPr/>
        </p:nvSpPr>
        <p:spPr>
          <a:xfrm>
            <a:off x="1152525" y="2147887"/>
            <a:ext cx="912018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Serves quantized Qwen 3.5 2B GGUF with low-temperature clinical sampling parameters.</a:t>
            </a:r>
            <a:endParaRPr/>
          </a:p>
        </p:txBody>
      </p:sp>
      <p:sp>
        <p:nvSpPr>
          <p:cNvPr id="356" name="Google Shape;356;p19"/>
          <p:cNvSpPr txBox="1"/>
          <p:nvPr/>
        </p:nvSpPr>
        <p:spPr>
          <a:xfrm>
            <a:off x="1152525" y="2690812"/>
            <a:ext cx="9810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Async FastAPI Gateway</a:t>
            </a:r>
            <a:endParaRPr/>
          </a:p>
        </p:txBody>
      </p:sp>
      <p:sp>
        <p:nvSpPr>
          <p:cNvPr id="357" name="Google Shape;357;p19"/>
          <p:cNvSpPr txBox="1"/>
          <p:nvPr/>
        </p:nvSpPr>
        <p:spPr>
          <a:xfrm>
            <a:off x="1152525" y="2909887"/>
            <a:ext cx="9810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Dual-track endpoint handling text queries and file-attachment payloads with automatic dispatch.</a:t>
            </a:r>
            <a:endParaRPr/>
          </a:p>
        </p:txBody>
      </p:sp>
      <p:sp>
        <p:nvSpPr>
          <p:cNvPr id="358" name="Google Shape;358;p19"/>
          <p:cNvSpPr txBox="1"/>
          <p:nvPr/>
        </p:nvSpPr>
        <p:spPr>
          <a:xfrm>
            <a:off x="1152525" y="3452812"/>
            <a:ext cx="9334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Hybrid PIN Code &amp; Intent Routing</a:t>
            </a:r>
            <a:endParaRPr/>
          </a:p>
        </p:txBody>
      </p:sp>
      <p:sp>
        <p:nvSpPr>
          <p:cNvPr id="359" name="Google Shape;359;p19"/>
          <p:cNvSpPr txBox="1"/>
          <p:nvPr/>
        </p:nvSpPr>
        <p:spPr>
          <a:xfrm>
            <a:off x="1152525" y="3671887"/>
            <a:ext cx="9334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Regex-based Indian PIN extraction for hospital lookups plus neural symptom triage routing.</a:t>
            </a:r>
            <a:endParaRPr/>
          </a:p>
        </p:txBody>
      </p:sp>
      <p:sp>
        <p:nvSpPr>
          <p:cNvPr id="360" name="Google Shape;360;p19"/>
          <p:cNvSpPr txBox="1"/>
          <p:nvPr/>
        </p:nvSpPr>
        <p:spPr>
          <a:xfrm>
            <a:off x="1152525" y="4214812"/>
            <a:ext cx="88106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Hinglish Code-Mixed Normalization</a:t>
            </a:r>
            <a:endParaRPr/>
          </a:p>
        </p:txBody>
      </p:sp>
      <p:sp>
        <p:nvSpPr>
          <p:cNvPr id="361" name="Google Shape;361;p19"/>
          <p:cNvSpPr txBox="1"/>
          <p:nvPr/>
        </p:nvSpPr>
        <p:spPr>
          <a:xfrm>
            <a:off x="1152525" y="4433887"/>
            <a:ext cx="88106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Ingests queries like "3 din se tez bukhar aur vomiting" into standardized clinical triage.</a:t>
            </a:r>
            <a:endParaRPr/>
          </a:p>
        </p:txBody>
      </p:sp>
      <p:sp>
        <p:nvSpPr>
          <p:cNvPr id="362" name="Google Shape;362;p19"/>
          <p:cNvSpPr txBox="1"/>
          <p:nvPr/>
        </p:nvSpPr>
        <p:spPr>
          <a:xfrm>
            <a:off x="1152525" y="4976812"/>
            <a:ext cx="888206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Interactive Verification UI</a:t>
            </a:r>
            <a:endParaRPr/>
          </a:p>
        </p:txBody>
      </p:sp>
      <p:sp>
        <p:nvSpPr>
          <p:cNvPr id="363" name="Google Shape;363;p19"/>
          <p:cNvSpPr txBox="1"/>
          <p:nvPr/>
        </p:nvSpPr>
        <p:spPr>
          <a:xfrm>
            <a:off x="1152525" y="5195887"/>
            <a:ext cx="888206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Live dashboard demonstrating latency logs, track execution paths, and triage risk tiers.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31F"/>
        </a:solidFill>
        <a:effectLst/>
      </p:bgPr>
    </p:bg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0"/>
          <p:cNvSpPr/>
          <p:nvPr/>
        </p:nvSpPr>
        <p:spPr>
          <a:xfrm>
            <a:off x="571500" y="6048375"/>
            <a:ext cx="1104900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0"/>
          <p:cNvSpPr/>
          <p:nvPr/>
        </p:nvSpPr>
        <p:spPr>
          <a:xfrm>
            <a:off x="571500" y="2441376"/>
            <a:ext cx="3543300" cy="2299096"/>
          </a:xfrm>
          <a:prstGeom prst="roundRect">
            <a:avLst>
              <a:gd name="adj" fmla="val 4971"/>
            </a:avLst>
          </a:prstGeom>
          <a:solidFill>
            <a:srgbClr val="0F1F33"/>
          </a:solidFill>
          <a:ln w="9525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0"/>
          <p:cNvSpPr/>
          <p:nvPr/>
        </p:nvSpPr>
        <p:spPr>
          <a:xfrm>
            <a:off x="4324350" y="2441376"/>
            <a:ext cx="3543300" cy="2299096"/>
          </a:xfrm>
          <a:prstGeom prst="roundRect">
            <a:avLst>
              <a:gd name="adj" fmla="val 4971"/>
            </a:avLst>
          </a:prstGeom>
          <a:solidFill>
            <a:srgbClr val="0F1F33"/>
          </a:solidFill>
          <a:ln w="9525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0"/>
          <p:cNvSpPr/>
          <p:nvPr/>
        </p:nvSpPr>
        <p:spPr>
          <a:xfrm>
            <a:off x="8077200" y="2441376"/>
            <a:ext cx="3543300" cy="2299096"/>
          </a:xfrm>
          <a:prstGeom prst="roundRect">
            <a:avLst>
              <a:gd name="adj" fmla="val 4971"/>
            </a:avLst>
          </a:prstGeom>
          <a:solidFill>
            <a:srgbClr val="0F1F33"/>
          </a:solidFill>
          <a:ln w="9525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0"/>
          <p:cNvSpPr/>
          <p:nvPr/>
        </p:nvSpPr>
        <p:spPr>
          <a:xfrm>
            <a:off x="571500" y="6048375"/>
            <a:ext cx="11049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0"/>
          <p:cNvSpPr/>
          <p:nvPr/>
        </p:nvSpPr>
        <p:spPr>
          <a:xfrm>
            <a:off x="571500" y="4953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4" name="Google Shape;37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625" y="267950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62475" y="267950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15325" y="267950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400" y="2784276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67250" y="2784276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96287" y="2784276"/>
            <a:ext cx="2190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20"/>
          <p:cNvSpPr txBox="1"/>
          <p:nvPr/>
        </p:nvSpPr>
        <p:spPr>
          <a:xfrm>
            <a:off x="571500" y="685800"/>
            <a:ext cx="116205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Clinical Safety &amp; Public Health Vision</a:t>
            </a:r>
            <a:endParaRPr/>
          </a:p>
        </p:txBody>
      </p:sp>
      <p:sp>
        <p:nvSpPr>
          <p:cNvPr id="381" name="Google Shape;381;p20"/>
          <p:cNvSpPr txBox="1"/>
          <p:nvPr/>
        </p:nvSpPr>
        <p:spPr>
          <a:xfrm>
            <a:off x="571500" y="6229350"/>
            <a:ext cx="49530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Zero Cloud Dependency • 100% Offline Edge Deployable</a:t>
            </a:r>
            <a:endParaRPr/>
          </a:p>
        </p:txBody>
      </p:sp>
      <p:sp>
        <p:nvSpPr>
          <p:cNvPr id="382" name="Google Shape;382;p20"/>
          <p:cNvSpPr txBox="1"/>
          <p:nvPr/>
        </p:nvSpPr>
        <p:spPr>
          <a:xfrm>
            <a:off x="7429500" y="6229350"/>
            <a:ext cx="4762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 huggingface.co/TheUsurper09/aarogyamitra-qwen35-2b-gguf </a:t>
            </a:r>
            <a:endParaRPr/>
          </a:p>
        </p:txBody>
      </p:sp>
      <p:sp>
        <p:nvSpPr>
          <p:cNvPr id="383" name="Google Shape;383;p20"/>
          <p:cNvSpPr txBox="1"/>
          <p:nvPr/>
        </p:nvSpPr>
        <p:spPr>
          <a:xfrm>
            <a:off x="762000" y="457200"/>
            <a:ext cx="278606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SAFETY BOUNDARIES &amp; VISION</a:t>
            </a:r>
            <a:endParaRPr/>
          </a:p>
        </p:txBody>
      </p:sp>
      <p:sp>
        <p:nvSpPr>
          <p:cNvPr id="384" name="Google Shape;384;p20"/>
          <p:cNvSpPr txBox="1"/>
          <p:nvPr/>
        </p:nvSpPr>
        <p:spPr>
          <a:xfrm>
            <a:off x="809625" y="3193851"/>
            <a:ext cx="4025503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Emergency Short-Circuit</a:t>
            </a:r>
            <a:endParaRPr/>
          </a:p>
        </p:txBody>
      </p:sp>
      <p:sp>
        <p:nvSpPr>
          <p:cNvPr id="385" name="Google Shape;385;p20"/>
          <p:cNvSpPr txBox="1"/>
          <p:nvPr/>
        </p:nvSpPr>
        <p:spPr>
          <a:xfrm>
            <a:off x="809625" y="3508176"/>
            <a:ext cx="3162300" cy="99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Chest pain and respiratory distress bypass generative reasoning, immediately triggering 108 helpline dispatch.</a:t>
            </a:r>
            <a:endParaRPr dirty="0"/>
          </a:p>
        </p:txBody>
      </p:sp>
      <p:sp>
        <p:nvSpPr>
          <p:cNvPr id="386" name="Google Shape;386;p20"/>
          <p:cNvSpPr txBox="1"/>
          <p:nvPr/>
        </p:nvSpPr>
        <p:spPr>
          <a:xfrm>
            <a:off x="4562475" y="3193851"/>
            <a:ext cx="4025503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Triage vs. Diagnosis</a:t>
            </a:r>
            <a:endParaRPr/>
          </a:p>
        </p:txBody>
      </p:sp>
      <p:sp>
        <p:nvSpPr>
          <p:cNvPr id="387" name="Google Shape;387;p20"/>
          <p:cNvSpPr txBox="1"/>
          <p:nvPr/>
        </p:nvSpPr>
        <p:spPr>
          <a:xfrm>
            <a:off x="4562475" y="3508176"/>
            <a:ext cx="3162300" cy="99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Designed strictly as a navigation aid directing patients to Home Care, PHC, or Tertiary Care without rogue prescriptions.</a:t>
            </a:r>
            <a:endParaRPr dirty="0"/>
          </a:p>
        </p:txBody>
      </p:sp>
      <p:sp>
        <p:nvSpPr>
          <p:cNvPr id="388" name="Google Shape;388;p20"/>
          <p:cNvSpPr txBox="1"/>
          <p:nvPr/>
        </p:nvSpPr>
        <p:spPr>
          <a:xfrm>
            <a:off x="8315325" y="3193851"/>
            <a:ext cx="38766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ABDM &amp; UHI Alignment</a:t>
            </a:r>
            <a:endParaRPr/>
          </a:p>
        </p:txBody>
      </p:sp>
      <p:sp>
        <p:nvSpPr>
          <p:cNvPr id="389" name="Google Shape;389;p20"/>
          <p:cNvSpPr txBox="1"/>
          <p:nvPr/>
        </p:nvSpPr>
        <p:spPr>
          <a:xfrm>
            <a:off x="8315325" y="3508176"/>
            <a:ext cx="3162300" cy="602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Total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Ayushman Bharat</a:t>
            </a: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and UHI guidelines compliance.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</TotalTime>
  <Words>1039</Words>
  <Application>Microsoft Office PowerPoint</Application>
  <PresentationFormat>Widescreen</PresentationFormat>
  <Paragraphs>171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JetBrains Mono</vt:lpstr>
      <vt:lpstr>Arial</vt:lpstr>
      <vt:lpstr>Plus Jakarta Sans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Suyash Baoney</cp:lastModifiedBy>
  <cp:revision>14</cp:revision>
  <dcterms:modified xsi:type="dcterms:W3CDTF">2026-09-25T10:22:04Z</dcterms:modified>
</cp:coreProperties>
</file>